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6"/>
  </p:notesMasterIdLst>
  <p:sldIdLst>
    <p:sldId id="256" r:id="rId2"/>
    <p:sldId id="357" r:id="rId3"/>
    <p:sldId id="358" r:id="rId4"/>
    <p:sldId id="359" r:id="rId5"/>
    <p:sldId id="360" r:id="rId6"/>
    <p:sldId id="364" r:id="rId7"/>
    <p:sldId id="366" r:id="rId8"/>
    <p:sldId id="382" r:id="rId9"/>
    <p:sldId id="385" r:id="rId10"/>
    <p:sldId id="383" r:id="rId11"/>
    <p:sldId id="384" r:id="rId12"/>
    <p:sldId id="426" r:id="rId13"/>
    <p:sldId id="365" r:id="rId14"/>
    <p:sldId id="424" r:id="rId15"/>
    <p:sldId id="427" r:id="rId16"/>
    <p:sldId id="417" r:id="rId17"/>
    <p:sldId id="418" r:id="rId18"/>
    <p:sldId id="419" r:id="rId19"/>
    <p:sldId id="420" r:id="rId20"/>
    <p:sldId id="437" r:id="rId21"/>
    <p:sldId id="438" r:id="rId22"/>
    <p:sldId id="374" r:id="rId23"/>
    <p:sldId id="395" r:id="rId24"/>
    <p:sldId id="396" r:id="rId25"/>
    <p:sldId id="397" r:id="rId26"/>
    <p:sldId id="398" r:id="rId27"/>
    <p:sldId id="387" r:id="rId28"/>
    <p:sldId id="388" r:id="rId29"/>
    <p:sldId id="399" r:id="rId30"/>
    <p:sldId id="400" r:id="rId31"/>
    <p:sldId id="386" r:id="rId32"/>
    <p:sldId id="393" r:id="rId33"/>
    <p:sldId id="489" r:id="rId34"/>
    <p:sldId id="280" r:id="rId35"/>
  </p:sldIdLst>
  <p:sldSz cx="9144000" cy="5143500" type="screen16x9"/>
  <p:notesSz cx="6858000" cy="9144000"/>
  <p:embeddedFontLst>
    <p:embeddedFont>
      <p:font typeface="Advent Pro Light" panose="020B0604020202020204" charset="0"/>
      <p:regular r:id="rId37"/>
      <p:bold r:id="rId38"/>
    </p:embeddedFont>
    <p:embeddedFont>
      <p:font typeface="Anton" pitchFamily="2" charset="0"/>
      <p:regular r:id="rId39"/>
    </p:embeddedFont>
    <p:embeddedFont>
      <p:font typeface="Calibri" panose="020F0502020204030204" pitchFamily="34" charset="0"/>
      <p:regular r:id="rId40"/>
      <p:bold r:id="rId41"/>
      <p:italic r:id="rId42"/>
      <p:boldItalic r:id="rId43"/>
    </p:embeddedFont>
    <p:embeddedFont>
      <p:font typeface="Cambria Math" panose="02040503050406030204" pitchFamily="18" charset="0"/>
      <p:regular r:id="rId44"/>
    </p:embeddedFont>
    <p:embeddedFont>
      <p:font typeface="Fira Sans Condensed Light" panose="020B0403050000020004" pitchFamily="34" charset="0"/>
      <p:regular r:id="rId45"/>
      <p:bold r:id="rId46"/>
      <p:italic r:id="rId47"/>
      <p:boldItalic r:id="rId48"/>
    </p:embeddedFont>
    <p:embeddedFont>
      <p:font typeface="Rajdhani" panose="020B0604020202020204" charset="0"/>
      <p:regular r:id="rId49"/>
      <p:bold r:id="rId50"/>
    </p:embeddedFont>
    <p:embeddedFont>
      <p:font typeface="Segoe UI Semilight" panose="020B0402040204020203" pitchFamily="34" charset="0"/>
      <p:regular r:id="rId51"/>
      <p: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0055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5805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5889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766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1994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54357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3337577-087C-F55D-AC50-05777423FA65}"/>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7A8533A3-780D-F94C-AF20-34434164A7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EAF0E044-2524-C3A0-BD67-90FB37E94C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955090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6D5B4C3B-43A3-C0BF-05BD-767038D683C9}"/>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B452227A-6CAB-5F14-8D55-1C2A9C073B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432D3059-CE10-B2F0-7088-5286422DE2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2464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5129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85101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9579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1658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5abef0139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5abef0139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6122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5abef0139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5abef0139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612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263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64927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5abef0139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5abef0139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612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E5E65D04-0A97-CD74-2397-5CCF592DCBFB}"/>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17EF6B54-745F-F8D5-7AF5-69C6317581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6DDAEFF1-4054-FD99-4FFF-87959ABA53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66873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916225" y="244381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6" name="Google Shape;76;p18"/>
          <p:cNvSpPr txBox="1">
            <a:spLocks noGrp="1"/>
          </p:cNvSpPr>
          <p:nvPr>
            <p:ph type="subTitle" idx="1"/>
          </p:nvPr>
        </p:nvSpPr>
        <p:spPr>
          <a:xfrm>
            <a:off x="786275" y="1909450"/>
            <a:ext cx="21012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77" name="Google Shape;77;p18"/>
          <p:cNvSpPr txBox="1">
            <a:spLocks noGrp="1"/>
          </p:cNvSpPr>
          <p:nvPr>
            <p:ph type="title" idx="2"/>
          </p:nvPr>
        </p:nvSpPr>
        <p:spPr>
          <a:xfrm>
            <a:off x="6298374" y="244381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8" name="Google Shape;78;p18"/>
          <p:cNvSpPr txBox="1">
            <a:spLocks noGrp="1"/>
          </p:cNvSpPr>
          <p:nvPr>
            <p:ph type="subTitle" idx="3"/>
          </p:nvPr>
        </p:nvSpPr>
        <p:spPr>
          <a:xfrm>
            <a:off x="6080425" y="19094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79" name="Google Shape;79;p18"/>
          <p:cNvSpPr txBox="1">
            <a:spLocks noGrp="1"/>
          </p:cNvSpPr>
          <p:nvPr>
            <p:ph type="title" idx="4"/>
          </p:nvPr>
        </p:nvSpPr>
        <p:spPr>
          <a:xfrm>
            <a:off x="3607299" y="387276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0" name="Google Shape;80;p18"/>
          <p:cNvSpPr txBox="1">
            <a:spLocks noGrp="1"/>
          </p:cNvSpPr>
          <p:nvPr>
            <p:ph type="subTitle" idx="5"/>
          </p:nvPr>
        </p:nvSpPr>
        <p:spPr>
          <a:xfrm>
            <a:off x="3389350" y="33322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1" name="Google Shape;81;p18"/>
          <p:cNvSpPr txBox="1">
            <a:spLocks noGrp="1"/>
          </p:cNvSpPr>
          <p:nvPr>
            <p:ph type="title" idx="6"/>
          </p:nvPr>
        </p:nvSpPr>
        <p:spPr>
          <a:xfrm>
            <a:off x="3607299" y="244381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2" name="Google Shape;82;p18"/>
          <p:cNvSpPr txBox="1">
            <a:spLocks noGrp="1"/>
          </p:cNvSpPr>
          <p:nvPr>
            <p:ph type="subTitle" idx="7"/>
          </p:nvPr>
        </p:nvSpPr>
        <p:spPr>
          <a:xfrm>
            <a:off x="3389350" y="19094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3" name="Google Shape;83;p18"/>
          <p:cNvSpPr txBox="1">
            <a:spLocks noGrp="1"/>
          </p:cNvSpPr>
          <p:nvPr>
            <p:ph type="title" idx="8"/>
          </p:nvPr>
        </p:nvSpPr>
        <p:spPr>
          <a:xfrm>
            <a:off x="916225" y="3872760"/>
            <a:ext cx="18414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4" name="Google Shape;84;p18"/>
          <p:cNvSpPr txBox="1">
            <a:spLocks noGrp="1"/>
          </p:cNvSpPr>
          <p:nvPr>
            <p:ph type="subTitle" idx="9"/>
          </p:nvPr>
        </p:nvSpPr>
        <p:spPr>
          <a:xfrm>
            <a:off x="786325" y="3332250"/>
            <a:ext cx="21012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5" name="Google Shape;85;p18"/>
          <p:cNvSpPr txBox="1">
            <a:spLocks noGrp="1"/>
          </p:cNvSpPr>
          <p:nvPr>
            <p:ph type="title" idx="13"/>
          </p:nvPr>
        </p:nvSpPr>
        <p:spPr>
          <a:xfrm>
            <a:off x="6495924" y="3872763"/>
            <a:ext cx="1446300" cy="4017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400" i="0">
                <a:solidFill>
                  <a:srgbClr val="F3F3F3"/>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6" name="Google Shape;86;p18"/>
          <p:cNvSpPr txBox="1">
            <a:spLocks noGrp="1"/>
          </p:cNvSpPr>
          <p:nvPr>
            <p:ph type="subTitle" idx="14"/>
          </p:nvPr>
        </p:nvSpPr>
        <p:spPr>
          <a:xfrm>
            <a:off x="6080425" y="3332250"/>
            <a:ext cx="2277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400">
                <a:solidFill>
                  <a:srgbClr val="F3F3F3"/>
                </a:solidFill>
              </a:defRPr>
            </a:lvl1pPr>
            <a:lvl2pPr lvl="1" algn="ctr" rtl="0">
              <a:lnSpc>
                <a:spcPct val="100000"/>
              </a:lnSpc>
              <a:spcBef>
                <a:spcPts val="1600"/>
              </a:spcBef>
              <a:spcAft>
                <a:spcPts val="0"/>
              </a:spcAft>
              <a:buNone/>
              <a:defRPr sz="1400">
                <a:solidFill>
                  <a:srgbClr val="F3F3F3"/>
                </a:solidFill>
              </a:defRPr>
            </a:lvl2pPr>
            <a:lvl3pPr lvl="2" algn="ctr" rtl="0">
              <a:lnSpc>
                <a:spcPct val="100000"/>
              </a:lnSpc>
              <a:spcBef>
                <a:spcPts val="1600"/>
              </a:spcBef>
              <a:spcAft>
                <a:spcPts val="0"/>
              </a:spcAft>
              <a:buNone/>
              <a:defRPr sz="1400">
                <a:solidFill>
                  <a:srgbClr val="F3F3F3"/>
                </a:solidFill>
              </a:defRPr>
            </a:lvl3pPr>
            <a:lvl4pPr lvl="3" algn="ctr" rtl="0">
              <a:lnSpc>
                <a:spcPct val="100000"/>
              </a:lnSpc>
              <a:spcBef>
                <a:spcPts val="1600"/>
              </a:spcBef>
              <a:spcAft>
                <a:spcPts val="0"/>
              </a:spcAft>
              <a:buNone/>
              <a:defRPr sz="1400">
                <a:solidFill>
                  <a:srgbClr val="F3F3F3"/>
                </a:solidFill>
              </a:defRPr>
            </a:lvl4pPr>
            <a:lvl5pPr lvl="4" algn="ctr" rtl="0">
              <a:lnSpc>
                <a:spcPct val="100000"/>
              </a:lnSpc>
              <a:spcBef>
                <a:spcPts val="1600"/>
              </a:spcBef>
              <a:spcAft>
                <a:spcPts val="0"/>
              </a:spcAft>
              <a:buNone/>
              <a:defRPr sz="1400">
                <a:solidFill>
                  <a:srgbClr val="F3F3F3"/>
                </a:solidFill>
              </a:defRPr>
            </a:lvl5pPr>
            <a:lvl6pPr lvl="5" algn="ctr" rtl="0">
              <a:lnSpc>
                <a:spcPct val="100000"/>
              </a:lnSpc>
              <a:spcBef>
                <a:spcPts val="1600"/>
              </a:spcBef>
              <a:spcAft>
                <a:spcPts val="0"/>
              </a:spcAft>
              <a:buNone/>
              <a:defRPr sz="1400">
                <a:solidFill>
                  <a:srgbClr val="F3F3F3"/>
                </a:solidFill>
              </a:defRPr>
            </a:lvl6pPr>
            <a:lvl7pPr lvl="6" algn="ctr" rtl="0">
              <a:lnSpc>
                <a:spcPct val="100000"/>
              </a:lnSpc>
              <a:spcBef>
                <a:spcPts val="1600"/>
              </a:spcBef>
              <a:spcAft>
                <a:spcPts val="0"/>
              </a:spcAft>
              <a:buNone/>
              <a:defRPr sz="1400">
                <a:solidFill>
                  <a:srgbClr val="F3F3F3"/>
                </a:solidFill>
              </a:defRPr>
            </a:lvl7pPr>
            <a:lvl8pPr lvl="7" algn="ctr" rtl="0">
              <a:lnSpc>
                <a:spcPct val="100000"/>
              </a:lnSpc>
              <a:spcBef>
                <a:spcPts val="1600"/>
              </a:spcBef>
              <a:spcAft>
                <a:spcPts val="0"/>
              </a:spcAft>
              <a:buNone/>
              <a:defRPr sz="1400">
                <a:solidFill>
                  <a:srgbClr val="F3F3F3"/>
                </a:solidFill>
              </a:defRPr>
            </a:lvl8pPr>
            <a:lvl9pPr lvl="8" algn="ctr" rtl="0">
              <a:lnSpc>
                <a:spcPct val="100000"/>
              </a:lnSpc>
              <a:spcBef>
                <a:spcPts val="1600"/>
              </a:spcBef>
              <a:spcAft>
                <a:spcPts val="1600"/>
              </a:spcAft>
              <a:buNone/>
              <a:defRPr sz="1400">
                <a:solidFill>
                  <a:srgbClr val="F3F3F3"/>
                </a:solidFill>
              </a:defRPr>
            </a:lvl9pPr>
          </a:lstStyle>
          <a:p>
            <a:endParaRPr/>
          </a:p>
        </p:txBody>
      </p:sp>
      <p:sp>
        <p:nvSpPr>
          <p:cNvPr id="87" name="Google Shape;87;p18"/>
          <p:cNvSpPr txBox="1">
            <a:spLocks noGrp="1"/>
          </p:cNvSpPr>
          <p:nvPr>
            <p:ph type="title" idx="15"/>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8.gif"/></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19.gif"/></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20.gif"/></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0.xml"/><Relationship Id="rId6" Type="http://schemas.openxmlformats.org/officeDocument/2006/relationships/image" Target="../media/image240.png"/><Relationship Id="rId5" Type="http://schemas.openxmlformats.org/officeDocument/2006/relationships/image" Target="../media/image230.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TC2003B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Gestión de Proyectos de Plataformas Tecnológicas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30 de Septiembre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5019262" y="2454286"/>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997243"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7" name="Picture 3"/>
          <p:cNvPicPr>
            <a:picLocks noChangeAspect="1" noChangeArrowheads="1"/>
          </p:cNvPicPr>
          <p:nvPr/>
        </p:nvPicPr>
        <p:blipFill>
          <a:blip r:embed="rId4"/>
          <a:srcRect/>
          <a:stretch>
            <a:fillRect/>
          </a:stretch>
        </p:blipFill>
        <p:spPr bwMode="auto">
          <a:xfrm>
            <a:off x="76202" y="1013958"/>
            <a:ext cx="2173638" cy="1457098"/>
          </a:xfrm>
          <a:prstGeom prst="rect">
            <a:avLst/>
          </a:prstGeom>
          <a:noFill/>
          <a:ln w="9525">
            <a:noFill/>
            <a:miter lim="800000"/>
            <a:headEnd/>
            <a:tailEnd/>
          </a:ln>
          <a:effectLst/>
        </p:spPr>
      </p:pic>
      <p:pic>
        <p:nvPicPr>
          <p:cNvPr id="1030" name="Picture 6" descr="Qué es Power BI de Office 365"/>
          <p:cNvPicPr>
            <a:picLocks noChangeAspect="1" noChangeArrowheads="1"/>
          </p:cNvPicPr>
          <p:nvPr/>
        </p:nvPicPr>
        <p:blipFill>
          <a:blip r:embed="rId5"/>
          <a:srcRect/>
          <a:stretch>
            <a:fillRect/>
          </a:stretch>
        </p:blipFill>
        <p:spPr bwMode="auto">
          <a:xfrm>
            <a:off x="87088" y="2775165"/>
            <a:ext cx="2206624" cy="1241662"/>
          </a:xfrm>
          <a:prstGeom prst="rect">
            <a:avLst/>
          </a:prstGeom>
          <a:noFill/>
        </p:spPr>
      </p:pic>
      <p:pic>
        <p:nvPicPr>
          <p:cNvPr id="1033" name="Picture 9" descr="Qlik: ¿qué es y cómo funciona esta herramienta de BI?"/>
          <p:cNvPicPr>
            <a:picLocks noChangeAspect="1" noChangeArrowheads="1"/>
          </p:cNvPicPr>
          <p:nvPr/>
        </p:nvPicPr>
        <p:blipFill>
          <a:blip r:embed="rId6"/>
          <a:srcRect l="3401"/>
          <a:stretch>
            <a:fillRect/>
          </a:stretch>
        </p:blipFill>
        <p:spPr bwMode="auto">
          <a:xfrm>
            <a:off x="2373086" y="1072226"/>
            <a:ext cx="2325655" cy="1324142"/>
          </a:xfrm>
          <a:prstGeom prst="rect">
            <a:avLst/>
          </a:prstGeom>
          <a:noFill/>
        </p:spPr>
      </p:pic>
      <p:pic>
        <p:nvPicPr>
          <p:cNvPr id="1035" name="Picture 11" descr="Las 8 herramientas de Data Analytics más usadas"/>
          <p:cNvPicPr>
            <a:picLocks noChangeAspect="1" noChangeArrowheads="1"/>
          </p:cNvPicPr>
          <p:nvPr/>
        </p:nvPicPr>
        <p:blipFill>
          <a:blip r:embed="rId7"/>
          <a:srcRect l="23453" r="18783" b="6905"/>
          <a:stretch>
            <a:fillRect/>
          </a:stretch>
        </p:blipFill>
        <p:spPr bwMode="auto">
          <a:xfrm>
            <a:off x="2405743" y="2778351"/>
            <a:ext cx="2318657" cy="1244375"/>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“Si no sabes explicarlo de un modo simple, no lo entiendes bien...”   </a:t>
            </a:r>
          </a:p>
          <a:p>
            <a:pPr algn="l"/>
            <a:r>
              <a:rPr lang="es-ES" dirty="0"/>
              <a:t>       </a:t>
            </a:r>
          </a:p>
          <a:p>
            <a:pPr algn="l"/>
            <a:r>
              <a:rPr lang="es-ES" dirty="0"/>
              <a:t>                                               –Albert Einstein</a:t>
            </a:r>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970033"/>
            <a:ext cx="5967741" cy="1182341"/>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Podrás Generar soluciones innovadoras y de valor ante las problemáticas del entorno, a través de un proceso sistemático que incorpora la validación y el aprendizaje en situaciones positivas y adversas. </a:t>
            </a: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684270"/>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 principal del Curso</a:t>
            </a:r>
            <a:endParaRPr sz="2200" b="1" dirty="0">
              <a:solidFill>
                <a:srgbClr val="F3F3F3"/>
              </a:solidFill>
              <a:latin typeface="Rajdhani"/>
              <a:ea typeface="Rajdhani"/>
              <a:cs typeface="Rajdhani"/>
              <a:sym typeface="Rajdhani"/>
            </a:endParaRPr>
          </a:p>
        </p:txBody>
      </p:sp>
      <p:pic>
        <p:nvPicPr>
          <p:cNvPr id="37"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28674" name="Picture 2" descr="Idea y objetivo concepto | Vector Premium"/>
          <p:cNvPicPr>
            <a:picLocks noChangeAspect="1" noChangeArrowheads="1"/>
          </p:cNvPicPr>
          <p:nvPr/>
        </p:nvPicPr>
        <p:blipFill>
          <a:blip r:embed="rId4"/>
          <a:srcRect b="4570"/>
          <a:stretch>
            <a:fillRect/>
          </a:stretch>
        </p:blipFill>
        <p:spPr bwMode="auto">
          <a:xfrm>
            <a:off x="884583" y="1794008"/>
            <a:ext cx="958465" cy="914664"/>
          </a:xfrm>
          <a:prstGeom prst="rect">
            <a:avLst/>
          </a:prstGeom>
          <a:noFill/>
        </p:spPr>
      </p:pic>
      <p:sp>
        <p:nvSpPr>
          <p:cNvPr id="7"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848402"/>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Gestionarás la </a:t>
            </a:r>
            <a:r>
              <a:rPr lang="es-ES" sz="1600" b="1" dirty="0">
                <a:solidFill>
                  <a:schemeClr val="accent4"/>
                </a:solidFill>
                <a:latin typeface="Fira Sans Condensed Light" panose="020B0604020202020204" charset="0"/>
                <a:cs typeface="Times New Roman" panose="02020603050405020304" pitchFamily="18" charset="0"/>
              </a:rPr>
              <a:t>plataforma tecnológica de Analítica</a:t>
            </a:r>
            <a:r>
              <a:rPr lang="es-ES" sz="1600" dirty="0">
                <a:solidFill>
                  <a:schemeClr val="accent4"/>
                </a:solidFill>
                <a:latin typeface="Fira Sans Condensed Light" panose="020B0604020202020204" charset="0"/>
                <a:cs typeface="Times New Roman" panose="02020603050405020304" pitchFamily="18" charset="0"/>
              </a:rPr>
              <a:t> de Negocios de acuerdo a la estrategia de la organización.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415917"/>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Objetivos particulares del curso</a:t>
            </a:r>
            <a:endParaRPr sz="2200" b="1" dirty="0">
              <a:solidFill>
                <a:srgbClr val="F3F3F3"/>
              </a:solidFill>
              <a:latin typeface="Rajdhani"/>
              <a:ea typeface="Rajdhani"/>
              <a:cs typeface="Rajdhani"/>
              <a:sym typeface="Rajdhani"/>
            </a:endParaRPr>
          </a:p>
        </p:txBody>
      </p:sp>
      <p:pic>
        <p:nvPicPr>
          <p:cNvPr id="28674" name="Picture 2" descr="Idea y objetivo concepto | Vector Premium"/>
          <p:cNvPicPr>
            <a:picLocks noChangeAspect="1" noChangeArrowheads="1"/>
          </p:cNvPicPr>
          <p:nvPr/>
        </p:nvPicPr>
        <p:blipFill>
          <a:blip r:embed="rId3"/>
          <a:srcRect b="4570"/>
          <a:stretch>
            <a:fillRect/>
          </a:stretch>
        </p:blipFill>
        <p:spPr bwMode="auto">
          <a:xfrm>
            <a:off x="1302027" y="2050064"/>
            <a:ext cx="557213" cy="531749"/>
          </a:xfrm>
          <a:prstGeom prst="rect">
            <a:avLst/>
          </a:prstGeom>
          <a:noFill/>
        </p:spPr>
      </p:pic>
      <p:sp>
        <p:nvSpPr>
          <p:cNvPr id="6" name="Google Shape;1603;p42"/>
          <p:cNvSpPr txBox="1"/>
          <p:nvPr/>
        </p:nvSpPr>
        <p:spPr>
          <a:xfrm>
            <a:off x="2038469" y="2712155"/>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Propondrás la configuración de las plataformas tecnológicas orientada a la </a:t>
            </a:r>
            <a:r>
              <a:rPr lang="es-ES" sz="1600" b="1" dirty="0">
                <a:solidFill>
                  <a:schemeClr val="accent4"/>
                </a:solidFill>
                <a:latin typeface="Fira Sans Condensed Light" panose="020B0604020202020204" charset="0"/>
                <a:cs typeface="Times New Roman" panose="02020603050405020304" pitchFamily="18" charset="0"/>
              </a:rPr>
              <a:t>ejecución eficiente</a:t>
            </a:r>
            <a:r>
              <a:rPr lang="es-ES" sz="1600" dirty="0">
                <a:solidFill>
                  <a:schemeClr val="accent4"/>
                </a:solidFill>
                <a:latin typeface="Fira Sans Condensed Light" panose="020B0604020202020204" charset="0"/>
                <a:cs typeface="Times New Roman" panose="02020603050405020304" pitchFamily="18" charset="0"/>
              </a:rPr>
              <a:t> de la estrategia de Analítica de Negocios.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7" name="Picture 2" descr="Idea y objetivo concepto | Vector Premium"/>
          <p:cNvPicPr>
            <a:picLocks noChangeAspect="1" noChangeArrowheads="1"/>
          </p:cNvPicPr>
          <p:nvPr/>
        </p:nvPicPr>
        <p:blipFill>
          <a:blip r:embed="rId3"/>
          <a:srcRect b="4570"/>
          <a:stretch>
            <a:fillRect/>
          </a:stretch>
        </p:blipFill>
        <p:spPr bwMode="auto">
          <a:xfrm>
            <a:off x="1325218" y="2864121"/>
            <a:ext cx="557213" cy="531749"/>
          </a:xfrm>
          <a:prstGeom prst="rect">
            <a:avLst/>
          </a:prstGeom>
          <a:noFill/>
        </p:spPr>
      </p:pic>
      <p:sp>
        <p:nvSpPr>
          <p:cNvPr id="8" name="Google Shape;1603;p42"/>
          <p:cNvSpPr txBox="1"/>
          <p:nvPr/>
        </p:nvSpPr>
        <p:spPr>
          <a:xfrm>
            <a:off x="2021904" y="3591528"/>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Generarás soluciones innovadoras y versátiles en entornos cambiantes que crean valor e impactan positivamente a la sociedad.</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 name="Picture 2" descr="Idea y objetivo concepto | Vector Premium"/>
          <p:cNvPicPr>
            <a:picLocks noChangeAspect="1" noChangeArrowheads="1"/>
          </p:cNvPicPr>
          <p:nvPr/>
        </p:nvPicPr>
        <p:blipFill>
          <a:blip r:embed="rId3"/>
          <a:srcRect b="4570"/>
          <a:stretch>
            <a:fillRect/>
          </a:stretch>
        </p:blipFill>
        <p:spPr bwMode="auto">
          <a:xfrm>
            <a:off x="1308653" y="3743494"/>
            <a:ext cx="557213" cy="531749"/>
          </a:xfrm>
          <a:prstGeom prst="rect">
            <a:avLst/>
          </a:prstGeom>
          <a:noFill/>
        </p:spPr>
      </p:pic>
      <p:pic>
        <p:nvPicPr>
          <p:cNvPr id="1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12"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703736" cy="881100"/>
          </a:xfrm>
          <a:prstGeom prst="rect">
            <a:avLst/>
          </a:prstGeom>
        </p:spPr>
        <p:txBody>
          <a:bodyPr spcFirstLastPara="1" wrap="square" lIns="91425" tIns="91425" rIns="91425" bIns="91425" anchor="t" anchorCtr="0">
            <a:noAutofit/>
          </a:bodyPr>
          <a:lstStyle/>
          <a:p>
            <a:pPr marL="146050" lvl="0" indent="0">
              <a:buSzPts val="1300"/>
            </a:pPr>
            <a:r>
              <a:rPr lang="es-ES" dirty="0"/>
              <a:t> -Arquitectura de Tecnología de la Información </a:t>
            </a:r>
          </a:p>
          <a:p>
            <a:pPr marL="146050" lvl="0" indent="0">
              <a:buSzPts val="1300"/>
            </a:pPr>
            <a:r>
              <a:rPr lang="es-ES" dirty="0"/>
              <a:t> -</a:t>
            </a:r>
            <a:r>
              <a:rPr lang="es-ES" dirty="0" err="1"/>
              <a:t>Python</a:t>
            </a:r>
            <a:r>
              <a:rPr lang="es-ES" dirty="0"/>
              <a:t>. Tecnología de acceso libre</a:t>
            </a:r>
          </a:p>
          <a:p>
            <a:pPr marL="146050" lvl="0" indent="0">
              <a:buSzPts val="1300"/>
            </a:pPr>
            <a:r>
              <a:rPr lang="es-ES" dirty="0"/>
              <a:t> </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67637" y="901712"/>
            <a:ext cx="760070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Arquitectura de Tecnología de Información</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DEFINICIÓN</a:t>
            </a:r>
          </a:p>
        </p:txBody>
      </p:sp>
      <p:cxnSp>
        <p:nvCxnSpPr>
          <p:cNvPr id="152" name="Google Shape;258;p31"/>
          <p:cNvCxnSpPr/>
          <p:nvPr/>
        </p:nvCxnSpPr>
        <p:spPr>
          <a:xfrm rot="5400000">
            <a:off x="20642" y="1418462"/>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46277" y="1868295"/>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una arquitectura de la Tecnología de Información?</a:t>
            </a:r>
          </a:p>
          <a:p>
            <a:pPr algn="just"/>
            <a:r>
              <a:rPr lang="es-ES" sz="1600" dirty="0">
                <a:solidFill>
                  <a:schemeClr val="accent4"/>
                </a:solidFill>
                <a:latin typeface="Fira Sans Condensed Light" panose="020B0604020202020204" charset="0"/>
                <a:cs typeface="Times New Roman" panose="02020603050405020304" pitchFamily="18" charset="0"/>
              </a:rPr>
              <a:t>“la organización fundamental de un sistema. Comprendida por sus componentes, las relaciones entre ellos y el medio ambiente y los principios que gobiernan su diseño y evolución”</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 name="Google Shape;1603;p42"/>
          <p:cNvSpPr txBox="1"/>
          <p:nvPr/>
        </p:nvSpPr>
        <p:spPr>
          <a:xfrm>
            <a:off x="4835248" y="1879178"/>
            <a:ext cx="3281365" cy="1593365"/>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“La descripción formal de un sistema de información, organizada de manera que permite el razonamiento acerca de sus propiedades estructurales.”</a:t>
            </a: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buFont typeface="Arial" pitchFamily="34" charset="0"/>
              <a:buChar char="•"/>
            </a:pP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18" name="Google Shape;1603;p42"/>
          <p:cNvSpPr txBox="1"/>
          <p:nvPr/>
        </p:nvSpPr>
        <p:spPr>
          <a:xfrm>
            <a:off x="4900562" y="3517478"/>
            <a:ext cx="3281365" cy="1381094"/>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“Sistema que guía la selección, modificación y uso de los recursos de TI de forma que cumple con las necesidades del negocio”</a:t>
            </a: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67637" y="901712"/>
            <a:ext cx="760070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Arquitectura de Tecnología de Información</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DOMINIOS</a:t>
            </a:r>
          </a:p>
        </p:txBody>
      </p:sp>
      <p:cxnSp>
        <p:nvCxnSpPr>
          <p:cNvPr id="152" name="Google Shape;258;p31"/>
          <p:cNvCxnSpPr/>
          <p:nvPr/>
        </p:nvCxnSpPr>
        <p:spPr>
          <a:xfrm rot="5400000">
            <a:off x="20642" y="1418462"/>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46277" y="1770321"/>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Resumen</a:t>
            </a:r>
          </a:p>
          <a:p>
            <a:pPr algn="just"/>
            <a:r>
              <a:rPr lang="es-ES" sz="1600" dirty="0">
                <a:solidFill>
                  <a:schemeClr val="accent4"/>
                </a:solidFill>
                <a:latin typeface="Fira Sans Condensed Light" panose="020B0604020202020204" charset="0"/>
                <a:cs typeface="Times New Roman" panose="02020603050405020304" pitchFamily="18" charset="0"/>
              </a:rPr>
              <a:t>La arquitectura de TI se compone de dominios tecnológicos que facilitan su estudio, aplicación y análisis estructurado.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 name="Google Shape;1603;p42"/>
          <p:cNvSpPr txBox="1"/>
          <p:nvPr/>
        </p:nvSpPr>
        <p:spPr>
          <a:xfrm>
            <a:off x="4835248" y="1879178"/>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Dominios:</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Aplicativo</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Colaboración</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 y Data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Warehouse</a:t>
            </a: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Telecomunicaciones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Cómputo</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Seguridad</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Internet/Extranet</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Administración de Sistemas</a:t>
            </a:r>
          </a:p>
          <a:p>
            <a:pPr algn="just">
              <a:buFont typeface="Arial" pitchFamily="34" charset="0"/>
              <a:buChar char="•"/>
            </a:pP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buFont typeface="Arial" pitchFamily="34" charset="0"/>
              <a:buChar char="•"/>
            </a:pP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9 Flecha derecha"/>
          <p:cNvSpPr/>
          <p:nvPr/>
        </p:nvSpPr>
        <p:spPr>
          <a:xfrm>
            <a:off x="4582885" y="2329542"/>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Flecha derecha"/>
          <p:cNvSpPr/>
          <p:nvPr/>
        </p:nvSpPr>
        <p:spPr>
          <a:xfrm>
            <a:off x="4582885" y="2569028"/>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Flecha derecha"/>
          <p:cNvSpPr/>
          <p:nvPr/>
        </p:nvSpPr>
        <p:spPr>
          <a:xfrm>
            <a:off x="4593771" y="2841171"/>
            <a:ext cx="239486" cy="17417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Flecha derecha"/>
          <p:cNvSpPr/>
          <p:nvPr/>
        </p:nvSpPr>
        <p:spPr>
          <a:xfrm>
            <a:off x="4582885" y="3091542"/>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Flecha derecha"/>
          <p:cNvSpPr/>
          <p:nvPr/>
        </p:nvSpPr>
        <p:spPr>
          <a:xfrm>
            <a:off x="4582884" y="3320142"/>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4 Flecha derecha"/>
          <p:cNvSpPr/>
          <p:nvPr/>
        </p:nvSpPr>
        <p:spPr>
          <a:xfrm>
            <a:off x="4582884" y="3559627"/>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Flecha derecha"/>
          <p:cNvSpPr/>
          <p:nvPr/>
        </p:nvSpPr>
        <p:spPr>
          <a:xfrm>
            <a:off x="4571998" y="3799113"/>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16 Flecha derecha"/>
          <p:cNvSpPr/>
          <p:nvPr/>
        </p:nvSpPr>
        <p:spPr>
          <a:xfrm>
            <a:off x="4571998" y="4038599"/>
            <a:ext cx="239486" cy="17417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67637" y="901712"/>
            <a:ext cx="760070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Arquitectura de Tecnología de Información</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DISEÑO</a:t>
            </a:r>
          </a:p>
        </p:txBody>
      </p:sp>
      <p:cxnSp>
        <p:nvCxnSpPr>
          <p:cNvPr id="152" name="Google Shape;258;p31"/>
          <p:cNvCxnSpPr/>
          <p:nvPr/>
        </p:nvCxnSpPr>
        <p:spPr>
          <a:xfrm rot="5400000">
            <a:off x="20642" y="1418462"/>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57163" y="1879178"/>
            <a:ext cx="3524980" cy="1658679"/>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Arquitectura de procesos de negocio</a:t>
            </a:r>
          </a:p>
          <a:p>
            <a:pPr algn="just"/>
            <a:r>
              <a:rPr lang="es-ES" sz="1600" dirty="0">
                <a:solidFill>
                  <a:schemeClr val="accent4"/>
                </a:solidFill>
                <a:latin typeface="Fira Sans Condensed Light" panose="020B0604020202020204" charset="0"/>
                <a:cs typeface="Times New Roman" panose="02020603050405020304" pitchFamily="18" charset="0"/>
              </a:rPr>
              <a:t>Define la estrategia del negocio, sus políticas, organizaciones y procesos clave. La Arquitectura de TI necesita sustentar los objetivos de la Institución</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66562" name="Picture 2" descr="La Gestión por Procesos de Negocio (Business Process Managament – BPM) |  Collell &amp; Asociados, C.A"/>
          <p:cNvPicPr>
            <a:picLocks noChangeAspect="1" noChangeArrowheads="1"/>
          </p:cNvPicPr>
          <p:nvPr/>
        </p:nvPicPr>
        <p:blipFill>
          <a:blip r:embed="rId4"/>
          <a:srcRect/>
          <a:stretch>
            <a:fillRect/>
          </a:stretch>
        </p:blipFill>
        <p:spPr bwMode="auto">
          <a:xfrm>
            <a:off x="4988832" y="1714046"/>
            <a:ext cx="3012168" cy="299088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67637" y="901712"/>
            <a:ext cx="760070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Arquitectura de Tecnología de Información</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DISEÑO</a:t>
            </a:r>
          </a:p>
        </p:txBody>
      </p:sp>
      <p:cxnSp>
        <p:nvCxnSpPr>
          <p:cNvPr id="152" name="Google Shape;258;p31"/>
          <p:cNvCxnSpPr/>
          <p:nvPr/>
        </p:nvCxnSpPr>
        <p:spPr>
          <a:xfrm rot="5400000">
            <a:off x="20642" y="1418462"/>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 name="Google Shape;1603;p42"/>
          <p:cNvSpPr txBox="1"/>
          <p:nvPr/>
        </p:nvSpPr>
        <p:spPr>
          <a:xfrm>
            <a:off x="348345" y="1933604"/>
            <a:ext cx="3091541" cy="223562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Arquitectura de aplicaciones</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Define el diseño de los sistemas y aplicaciones que serán desarrolladas, sus interacciones y sus relaciones con los procesos de organización •Las aplicaciones usan los servicios de la arquitectura de TI para lograr características tales como interoperabilidad, seguridad, etc.</a:t>
            </a:r>
          </a:p>
          <a:p>
            <a:pPr algn="just">
              <a:buFont typeface="Arial" pitchFamily="34" charset="0"/>
              <a:buChar char="•"/>
            </a:pP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70658" name="AutoShape 2" descr="Arquitectura de aplicación Web centrada en el usuario por capas.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70660" name="Picture 4" descr="Arquitectura de aplicación Web centrada en el usuario por capas. | Download  Scientific Diagram"/>
          <p:cNvPicPr>
            <a:picLocks noChangeAspect="1" noChangeArrowheads="1"/>
          </p:cNvPicPr>
          <p:nvPr/>
        </p:nvPicPr>
        <p:blipFill>
          <a:blip r:embed="rId4"/>
          <a:srcRect/>
          <a:stretch>
            <a:fillRect/>
          </a:stretch>
        </p:blipFill>
        <p:spPr bwMode="auto">
          <a:xfrm>
            <a:off x="3508377" y="2013857"/>
            <a:ext cx="5484823" cy="267788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67637" y="901712"/>
            <a:ext cx="760070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Arquitectura de Tecnología de Información</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DISEÑO</a:t>
            </a:r>
          </a:p>
        </p:txBody>
      </p:sp>
      <p:cxnSp>
        <p:nvCxnSpPr>
          <p:cNvPr id="152" name="Google Shape;258;p31"/>
          <p:cNvCxnSpPr/>
          <p:nvPr/>
        </p:nvCxnSpPr>
        <p:spPr>
          <a:xfrm rot="5400000">
            <a:off x="20642" y="1418462"/>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8" name="Google Shape;1603;p42"/>
          <p:cNvSpPr txBox="1"/>
          <p:nvPr/>
        </p:nvSpPr>
        <p:spPr>
          <a:xfrm>
            <a:off x="380998" y="1900949"/>
            <a:ext cx="2960915" cy="255130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Arquitectura de datos</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Describe la estructura de datos física y lógica de una organización y los recursos para administrar los datos La arquitectura de TI deberá sustentar requerimientos tales como de almacenamiento, acceso, procesamiento, distribución y seguridad</a:t>
            </a:r>
          </a:p>
          <a:p>
            <a:pPr algn="just">
              <a:buFont typeface="Arial" pitchFamily="34" charset="0"/>
              <a:buChar char="•"/>
            </a:pPr>
            <a:endPar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pic>
        <p:nvPicPr>
          <p:cNvPr id="68610" name="Picture 2" descr="2.4 Inteligencia de negocios | Gestión de la información cuantitativa en  las universidades"/>
          <p:cNvPicPr>
            <a:picLocks noChangeAspect="1" noChangeArrowheads="1"/>
          </p:cNvPicPr>
          <p:nvPr/>
        </p:nvPicPr>
        <p:blipFill>
          <a:blip r:embed="rId4"/>
          <a:srcRect/>
          <a:stretch>
            <a:fillRect/>
          </a:stretch>
        </p:blipFill>
        <p:spPr bwMode="auto">
          <a:xfrm>
            <a:off x="3715204" y="1861458"/>
            <a:ext cx="5069711" cy="309358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Arial"/>
                <a:cs typeface="Arial"/>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1" name="150 Flecha curvada hacia arriba"/>
          <p:cNvSpPr/>
          <p:nvPr/>
        </p:nvSpPr>
        <p:spPr>
          <a:xfrm>
            <a:off x="6466115" y="3614057"/>
            <a:ext cx="2699657" cy="1186543"/>
          </a:xfrm>
          <a:prstGeom prst="curvedUpArrow">
            <a:avLst/>
          </a:prstGeom>
          <a:solidFill>
            <a:srgbClr val="00B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2" name="151 Flecha curvada hacia arriba"/>
          <p:cNvSpPr/>
          <p:nvPr/>
        </p:nvSpPr>
        <p:spPr>
          <a:xfrm rot="10800000">
            <a:off x="6357255" y="2253342"/>
            <a:ext cx="2699657" cy="1186543"/>
          </a:xfrm>
          <a:prstGeom prst="curvedUpArrow">
            <a:avLst/>
          </a:prstGeom>
          <a:solidFill>
            <a:srgbClr val="00B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234462" y="971850"/>
            <a:ext cx="4076163" cy="3199800"/>
          </a:xfrm>
          <a:prstGeom prst="rect">
            <a:avLst/>
          </a:prstGeom>
        </p:spPr>
        <p:txBody>
          <a:bodyPr spcFirstLastPara="1" wrap="square" lIns="91425" tIns="91425" rIns="91425" bIns="91425" anchor="ctr" anchorCtr="0">
            <a:noAutofit/>
          </a:bodyPr>
          <a:lstStyle/>
          <a:p>
            <a:pPr lvl="0"/>
            <a:r>
              <a:rPr lang="en" sz="4000" dirty="0"/>
              <a:t>Regresión Lineal</a:t>
            </a:r>
            <a:endParaRPr sz="4000" dirty="0"/>
          </a:p>
        </p:txBody>
      </p:sp>
      <p:sp>
        <p:nvSpPr>
          <p:cNvPr id="175" name="Google Shape;175;p30"/>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-Analítica de datos </a:t>
            </a:r>
          </a:p>
          <a:p>
            <a:pPr marL="146050" lvl="0" indent="0">
              <a:buSzPts val="1300"/>
            </a:pPr>
            <a:r>
              <a:rPr lang="es-ES" dirty="0"/>
              <a:t> -Regresión Lineal Simple en Python</a:t>
            </a:r>
          </a:p>
          <a:p>
            <a:pPr marL="146050" lvl="0" indent="0">
              <a:buSzPts val="1300"/>
            </a:pPr>
            <a:r>
              <a:rPr lang="es-ES" dirty="0"/>
              <a:t> -Regresión Lineal Múltiple en Python</a:t>
            </a:r>
          </a:p>
          <a:p>
            <a:pPr marL="146050" indent="0">
              <a:buSzPts val="1300"/>
            </a:pPr>
            <a:r>
              <a:rPr lang="es-ES" dirty="0"/>
              <a:t> </a:t>
            </a:r>
            <a:endParaRPr dirty="0"/>
          </a:p>
        </p:txBody>
      </p:sp>
      <p:sp>
        <p:nvSpPr>
          <p:cNvPr id="176" name="Google Shape;176;p30"/>
          <p:cNvSpPr txBox="1">
            <a:spLocks noGrp="1"/>
          </p:cNvSpPr>
          <p:nvPr>
            <p:ph type="title" idx="2"/>
          </p:nvPr>
        </p:nvSpPr>
        <p:spPr>
          <a:xfrm>
            <a:off x="4849170" y="1001125"/>
            <a:ext cx="2290184"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108890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481843"/>
            <a:ext cx="3347394"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CORRELACIÓN POSITIVA</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Una correlación es una medida o grado de relación entre dos variables. Un conjunto de datos puede ser positivamente correlacionado, negativamente correlacionado o no correlacionado del todo. Así como un conjunto de valores incrementa el otro conjunto tiende a aumentar, entonces esto es llamado una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correlación positiva.</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a:extLst>
              <a:ext uri="{FF2B5EF4-FFF2-40B4-BE49-F238E27FC236}">
                <a16:creationId xmlns:a16="http://schemas.microsoft.com/office/drawing/2014/main" id="{73F92E8F-31E5-C839-D139-1E1F1E83FB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575390"/>
            <a:ext cx="3347394" cy="3347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911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481843"/>
            <a:ext cx="3347394"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CORRELACIÓN NEGATIVA</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Así como un conjunto de valores incrementa el otro conjunto tiende a disminuir, entonces esto es llamado una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correlación negativa</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a:extLst>
              <a:ext uri="{FF2B5EF4-FFF2-40B4-BE49-F238E27FC236}">
                <a16:creationId xmlns:a16="http://schemas.microsoft.com/office/drawing/2014/main" id="{C9FA02B0-5734-9513-882B-F2534094B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569243"/>
            <a:ext cx="3353541" cy="3353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70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481843"/>
            <a:ext cx="3347394"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CORRELACIÓN NULA</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Si el cambio en los valores de un conjunto no tiene efecto en los valores del otro, entonces esto es llamado como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"no correlación" </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o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“correlación cero".</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074" name="Picture 2">
            <a:extLst>
              <a:ext uri="{FF2B5EF4-FFF2-40B4-BE49-F238E27FC236}">
                <a16:creationId xmlns:a16="http://schemas.microsoft.com/office/drawing/2014/main" id="{E217CEFE-2DA7-4155-CC17-5B1015E066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3046" y="1481843"/>
            <a:ext cx="3433396" cy="3433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732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88193" y="1560705"/>
            <a:ext cx="3347394"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RELACIÓN CAUSAL</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Una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relación causal </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entre dos eventos existe si la ocurrencia del primero causa el otro. El primer evento es llamado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la causa </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y el segundo evento es llamado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efecto</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Una correlación entre dos variables no implica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causalidad</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Por otro lado, </a:t>
            </a:r>
            <a:r>
              <a:rPr lang="es-E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si hay una relación causal entre dos variables, estas deben estar correlacionadas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4098" name="Picture 2" descr="Causalidad, Validez y Confiabilidad | Concise Medical Knowledge">
            <a:extLst>
              <a:ext uri="{FF2B5EF4-FFF2-40B4-BE49-F238E27FC236}">
                <a16:creationId xmlns:a16="http://schemas.microsoft.com/office/drawing/2014/main" id="{05749E93-0926-2ED1-B5FF-295D585FAF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7811" y="2007991"/>
            <a:ext cx="5130323" cy="1954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140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2102" y="1287121"/>
            <a:ext cx="8458197"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1: Correlación, pero no causalidad:</a:t>
            </a:r>
          </a:p>
          <a:p>
            <a:pPr algn="just"/>
            <a:r>
              <a:rPr lang="es-E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Observación: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En los días lluviosos, se observa que más personas llevan paraguas, y también hay un aumento en el número de accidentes de tráfico.</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Descargar Hombrecon Paraguas Bajo La Lluvia Con Luces De La Ciudad Durante  Un Día Lluvioso. | Wallpapers.com">
            <a:extLst>
              <a:ext uri="{FF2B5EF4-FFF2-40B4-BE49-F238E27FC236}">
                <a16:creationId xmlns:a16="http://schemas.microsoft.com/office/drawing/2014/main" id="{7AB6E8E3-04B6-D050-C366-99C890DF0C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2913" y="2224255"/>
            <a:ext cx="3688373" cy="245891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603;p42">
            <a:extLst>
              <a:ext uri="{FF2B5EF4-FFF2-40B4-BE49-F238E27FC236}">
                <a16:creationId xmlns:a16="http://schemas.microsoft.com/office/drawing/2014/main" id="{4FFB778F-7F34-7E6B-8905-9335161F36B4}"/>
              </a:ext>
            </a:extLst>
          </p:cNvPr>
          <p:cNvSpPr txBox="1"/>
          <p:nvPr/>
        </p:nvSpPr>
        <p:spPr>
          <a:xfrm>
            <a:off x="281598" y="2111354"/>
            <a:ext cx="5151315"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Correlación: </a:t>
            </a:r>
            <a:r>
              <a:rPr lang="es-ES" sz="1600" dirty="0">
                <a:solidFill>
                  <a:schemeClr val="tx2"/>
                </a:solidFill>
                <a:latin typeface="Fira Sans Condensed Light" panose="020B0604020202020204" charset="0"/>
                <a:cs typeface="Times New Roman" panose="02020603050405020304" pitchFamily="18" charset="0"/>
              </a:rPr>
              <a:t>Existe una correlación entre el hecho de que las personas lleven paraguas y el aumento de accidentes de tráfico.</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Por qué no hay causalidad: </a:t>
            </a:r>
            <a:r>
              <a:rPr lang="es-ES" sz="1600" dirty="0">
                <a:solidFill>
                  <a:schemeClr val="tx2"/>
                </a:solidFill>
                <a:latin typeface="Fira Sans Condensed Light" panose="020B0604020202020204" charset="0"/>
                <a:cs typeface="Times New Roman" panose="02020603050405020304" pitchFamily="18" charset="0"/>
              </a:rPr>
              <a:t>El hecho de que las personas lleven paraguas no causa los accidentes de tráfico. La causa real del aumento de accidentes es la lluvia. La lluvia afecta la visibilidad y la condición de las carreteras, lo que aumenta el riesgo de accidentes. En resumen, el paraguas es solo un indicador de que está lloviendo, pero no es la causa de los accidentes.</a:t>
            </a:r>
            <a:endPar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p:txBody>
      </p:sp>
    </p:spTree>
    <p:extLst>
      <p:ext uri="{BB962C8B-B14F-4D97-AF65-F5344CB8AC3E}">
        <p14:creationId xmlns:p14="http://schemas.microsoft.com/office/powerpoint/2010/main" val="1193790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3B325A2A-095B-5E2B-E2F7-70E6A72A5045}"/>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3160D7D5-ABEF-96B6-D527-E6E5B99C442D}"/>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8DBB7F1A-030E-7994-D151-D1B676E507B8}"/>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F471A2DC-7E9D-5048-5D40-9549FDB2CE37}"/>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7EAF8514-A7C8-660D-6C19-8C8D9BD630F6}"/>
              </a:ext>
            </a:extLst>
          </p:cNvPr>
          <p:cNvSpPr txBox="1"/>
          <p:nvPr/>
        </p:nvSpPr>
        <p:spPr>
          <a:xfrm>
            <a:off x="292102" y="1287121"/>
            <a:ext cx="8458197"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1: Correlación, pero no causalidad:</a:t>
            </a:r>
          </a:p>
          <a:p>
            <a:pPr algn="just"/>
            <a:r>
              <a:rPr lang="es-E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Observación: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En los días lluviosos, se observa que más personas llevan paraguas, y también hay un aumento en el número de accidentes de tráfico.</a:t>
            </a:r>
          </a:p>
        </p:txBody>
      </p:sp>
      <p:sp>
        <p:nvSpPr>
          <p:cNvPr id="10" name="Google Shape;136;p27">
            <a:extLst>
              <a:ext uri="{FF2B5EF4-FFF2-40B4-BE49-F238E27FC236}">
                <a16:creationId xmlns:a16="http://schemas.microsoft.com/office/drawing/2014/main" id="{044EFB8F-3FE9-B7AA-7FFC-BDC41D738574}"/>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Descargar Hombrecon Paraguas Bajo La Lluvia Con Luces De La Ciudad Durante  Un Día Lluvioso. | Wallpapers.com">
            <a:extLst>
              <a:ext uri="{FF2B5EF4-FFF2-40B4-BE49-F238E27FC236}">
                <a16:creationId xmlns:a16="http://schemas.microsoft.com/office/drawing/2014/main" id="{5284F159-2630-F784-AAF7-4A86AA49B6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9231" y="2133146"/>
            <a:ext cx="4349994" cy="2899996"/>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603;p42">
            <a:extLst>
              <a:ext uri="{FF2B5EF4-FFF2-40B4-BE49-F238E27FC236}">
                <a16:creationId xmlns:a16="http://schemas.microsoft.com/office/drawing/2014/main" id="{95027CA9-1299-F315-9554-556F10CEF813}"/>
              </a:ext>
            </a:extLst>
          </p:cNvPr>
          <p:cNvSpPr txBox="1"/>
          <p:nvPr/>
        </p:nvSpPr>
        <p:spPr>
          <a:xfrm>
            <a:off x="600301" y="2620030"/>
            <a:ext cx="3844925" cy="824233"/>
          </a:xfrm>
          <a:prstGeom prst="rect">
            <a:avLst/>
          </a:prstGeom>
          <a:noFill/>
          <a:ln>
            <a:noFill/>
          </a:ln>
        </p:spPr>
        <p:txBody>
          <a:bodyPr spcFirstLastPara="1" wrap="square" lIns="91425" tIns="182875" rIns="91425" bIns="0" anchor="t" anchorCtr="0">
            <a:noAutofit/>
          </a:bodyPr>
          <a:lstStyle/>
          <a:p>
            <a:pPr algn="just"/>
            <a:r>
              <a:rPr lang="es-ES" sz="1600" dirty="0">
                <a:solidFill>
                  <a:schemeClr val="tx2"/>
                </a:solidFill>
                <a:latin typeface="Fira Sans Condensed Light" panose="020B0604020202020204" charset="0"/>
                <a:cs typeface="Times New Roman" panose="02020603050405020304" pitchFamily="18" charset="0"/>
              </a:rPr>
              <a:t>Este es un ejemplo clásico de lo que se llama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correlación espuria</a:t>
            </a:r>
            <a:r>
              <a:rPr lang="es-ES" sz="1600" dirty="0">
                <a:solidFill>
                  <a:schemeClr val="tx2"/>
                </a:solidFill>
                <a:latin typeface="Fira Sans Condensed Light" panose="020B0604020202020204" charset="0"/>
                <a:cs typeface="Times New Roman" panose="02020603050405020304" pitchFamily="18" charset="0"/>
              </a:rPr>
              <a:t>, donde dos variables están relacionadas debido a un factor común (en este caso, la lluvia) pero no existe una relación causal directa entre ellas.</a:t>
            </a: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Tree>
    <p:extLst>
      <p:ext uri="{BB962C8B-B14F-4D97-AF65-F5344CB8AC3E}">
        <p14:creationId xmlns:p14="http://schemas.microsoft.com/office/powerpoint/2010/main" val="507440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537802D-B98E-B875-C4DB-665CA14E294F}"/>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D02F1F3E-D2AD-406E-CFA1-5248035DF5B6}"/>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DD91D8EC-3EED-3C69-ADFA-997E9D63FA00}"/>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Coeficiente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Correlación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vs Causa-</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Efecto</a:t>
            </a: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9D20F5FF-31C4-C266-4E6B-E3AF76E4280E}"/>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11748CD8-2AD7-0E97-3727-C96EEEEA5159}"/>
              </a:ext>
            </a:extLst>
          </p:cNvPr>
          <p:cNvSpPr txBox="1"/>
          <p:nvPr/>
        </p:nvSpPr>
        <p:spPr>
          <a:xfrm>
            <a:off x="292102" y="1287121"/>
            <a:ext cx="8458197"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2: Correlación y causalidad:</a:t>
            </a:r>
          </a:p>
          <a:p>
            <a:pPr algn="just"/>
            <a:r>
              <a:rPr lang="es-E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Observación: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Estudiantes que dedican más tiempo a estudiar tienen un mejor rendimiento académico.</a:t>
            </a:r>
          </a:p>
        </p:txBody>
      </p:sp>
      <p:sp>
        <p:nvSpPr>
          <p:cNvPr id="10" name="Google Shape;136;p27">
            <a:extLst>
              <a:ext uri="{FF2B5EF4-FFF2-40B4-BE49-F238E27FC236}">
                <a16:creationId xmlns:a16="http://schemas.microsoft.com/office/drawing/2014/main" id="{5179A9ED-61FC-51CC-09B7-C38CD534029A}"/>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3" name="Google Shape;1603;p42">
            <a:extLst>
              <a:ext uri="{FF2B5EF4-FFF2-40B4-BE49-F238E27FC236}">
                <a16:creationId xmlns:a16="http://schemas.microsoft.com/office/drawing/2014/main" id="{46BE88F3-9E0C-3B29-9ECB-73403C312C5B}"/>
              </a:ext>
            </a:extLst>
          </p:cNvPr>
          <p:cNvSpPr txBox="1"/>
          <p:nvPr/>
        </p:nvSpPr>
        <p:spPr>
          <a:xfrm>
            <a:off x="281598" y="2111354"/>
            <a:ext cx="5009173"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Correlación: </a:t>
            </a:r>
            <a:r>
              <a:rPr lang="es-ES" sz="1600" dirty="0">
                <a:solidFill>
                  <a:schemeClr val="tx2"/>
                </a:solidFill>
                <a:latin typeface="Fira Sans Condensed Light" panose="020B0604020202020204" charset="0"/>
                <a:cs typeface="Times New Roman" panose="02020603050405020304" pitchFamily="18" charset="0"/>
              </a:rPr>
              <a:t>Existe una correlación entre el tiempo de estudio y las calificaciones. A medida que aumenta el tiempo que los estudiantes pasan estudiando, sus notas tienden a mejorar.</a:t>
            </a: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Causalidad: </a:t>
            </a:r>
            <a:r>
              <a:rPr lang="es-ES" sz="1600" dirty="0">
                <a:solidFill>
                  <a:schemeClr val="tx2"/>
                </a:solidFill>
                <a:latin typeface="Fira Sans Condensed Light" panose="020B0604020202020204" charset="0"/>
                <a:cs typeface="Times New Roman" panose="02020603050405020304" pitchFamily="18" charset="0"/>
              </a:rPr>
              <a:t>El tiempo que un estudiante dedica a estudiar causa una mejora en sus calificaciones. Estudiar más permite entender mejor los temas, retener información y realizar mejores exámenes, lo que directamente influye en el rendimiento académico.</a:t>
            </a:r>
            <a:endPar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p:txBody>
      </p:sp>
      <p:pic>
        <p:nvPicPr>
          <p:cNvPr id="8" name="Imagen 7">
            <a:extLst>
              <a:ext uri="{FF2B5EF4-FFF2-40B4-BE49-F238E27FC236}">
                <a16:creationId xmlns:a16="http://schemas.microsoft.com/office/drawing/2014/main" id="{F4B610DB-DE64-87BB-B5A4-EB63C20605A8}"/>
              </a:ext>
            </a:extLst>
          </p:cNvPr>
          <p:cNvPicPr>
            <a:picLocks noChangeAspect="1"/>
          </p:cNvPicPr>
          <p:nvPr/>
        </p:nvPicPr>
        <p:blipFill>
          <a:blip r:embed="rId4"/>
          <a:srcRect l="8119" r="7308"/>
          <a:stretch>
            <a:fillRect/>
          </a:stretch>
        </p:blipFill>
        <p:spPr>
          <a:xfrm>
            <a:off x="5311286" y="2281036"/>
            <a:ext cx="3751207" cy="2150287"/>
          </a:xfrm>
          <a:prstGeom prst="rect">
            <a:avLst/>
          </a:prstGeom>
        </p:spPr>
      </p:pic>
    </p:spTree>
    <p:extLst>
      <p:ext uri="{BB962C8B-B14F-4D97-AF65-F5344CB8AC3E}">
        <p14:creationId xmlns:p14="http://schemas.microsoft.com/office/powerpoint/2010/main" val="715400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a:t>
            </a:r>
            <a:r>
              <a:rPr lang="es-ES" sz="1600" dirty="0">
                <a:solidFill>
                  <a:srgbClr val="EAFEE8"/>
                </a:solidFill>
                <a:latin typeface="Fira Sans Condensed Light" panose="020B0604020202020204" charset="0"/>
                <a:cs typeface="Times New Roman" panose="02020603050405020304" pitchFamily="18" charset="0"/>
              </a:rPr>
              <a:t>Dentro del </a:t>
            </a:r>
            <a:r>
              <a:rPr lang="es-ES" sz="1600" dirty="0" err="1">
                <a:solidFill>
                  <a:srgbClr val="EAFEE8"/>
                </a:solidFill>
                <a:latin typeface="Fira Sans Condensed Light" panose="020B0604020202020204" charset="0"/>
                <a:cs typeface="Times New Roman" panose="02020603050405020304" pitchFamily="18" charset="0"/>
              </a:rPr>
              <a:t>dataset</a:t>
            </a:r>
            <a:r>
              <a:rPr lang="es-ES" sz="1600" dirty="0">
                <a:solidFill>
                  <a:srgbClr val="EAFEE8"/>
                </a:solidFill>
                <a:latin typeface="Fira Sans Condensed Light" panose="020B0604020202020204" charset="0"/>
                <a:cs typeface="Times New Roman" panose="02020603050405020304" pitchFamily="18" charset="0"/>
              </a:rPr>
              <a:t> que estoy trabajando se elige una variable dependiente u objetivo (“</a:t>
            </a:r>
            <a:r>
              <a:rPr lang="es-ES" sz="1600" b="1" dirty="0">
                <a:solidFill>
                  <a:srgbClr val="EAFEE8"/>
                </a:solidFill>
                <a:latin typeface="Fira Sans Condensed Light" panose="020B0604020202020204" charset="0"/>
                <a:cs typeface="Times New Roman" panose="02020603050405020304" pitchFamily="18" charset="0"/>
              </a:rPr>
              <a:t>y</a:t>
            </a:r>
            <a:r>
              <a:rPr lang="es-ES" sz="1600" dirty="0">
                <a:solidFill>
                  <a:srgbClr val="EAFEE8"/>
                </a:solidFill>
                <a:latin typeface="Fira Sans Condensed Light" panose="020B0604020202020204" charset="0"/>
                <a:cs typeface="Times New Roman" panose="02020603050405020304" pitchFamily="18" charset="0"/>
              </a:rPr>
              <a:t>”) y una variable independiente (</a:t>
            </a:r>
            <a:r>
              <a:rPr lang="es-ES" sz="1600" b="1" dirty="0">
                <a:solidFill>
                  <a:srgbClr val="EAFEE8"/>
                </a:solidFill>
                <a:latin typeface="Fira Sans Condensed Light" panose="020B0604020202020204" charset="0"/>
                <a:cs typeface="Times New Roman" panose="02020603050405020304" pitchFamily="18" charset="0"/>
              </a:rPr>
              <a:t>“X”</a:t>
            </a:r>
            <a:r>
              <a:rPr lang="es-ES" sz="1600" dirty="0">
                <a:solidFill>
                  <a:srgbClr val="EAFEE8"/>
                </a:solidFill>
                <a:latin typeface="Fira Sans Condensed Light" panose="020B0604020202020204" charset="0"/>
                <a:cs typeface="Times New Roman" panose="02020603050405020304" pitchFamily="18" charset="0"/>
              </a:rPr>
              <a:t>) </a:t>
            </a:r>
            <a:r>
              <a:rPr lang="es-ES" sz="1600" b="1" dirty="0">
                <a:solidFill>
                  <a:srgbClr val="EAFEE8"/>
                </a:solidFill>
                <a:latin typeface="Fira Sans Condensed Light" panose="020B0604020202020204" charset="0"/>
                <a:cs typeface="Times New Roman" panose="02020603050405020304" pitchFamily="18" charset="0"/>
              </a:rPr>
              <a:t> </a:t>
            </a:r>
            <a:endParaRPr lang="es-ES" sz="1600" dirty="0">
              <a:solidFill>
                <a:srgbClr val="EAFEE8"/>
              </a:solidFill>
              <a:latin typeface="Fira Sans Condensed Light" panose="020B0604020202020204" charset="0"/>
              <a:cs typeface="Times New Roman" panose="02020603050405020304" pitchFamily="18" charset="0"/>
            </a:endParaRPr>
          </a:p>
        </p:txBody>
      </p:sp>
      <p:pic>
        <p:nvPicPr>
          <p:cNvPr id="7" name="Imagen 6">
            <a:extLst>
              <a:ext uri="{FF2B5EF4-FFF2-40B4-BE49-F238E27FC236}">
                <a16:creationId xmlns:a16="http://schemas.microsoft.com/office/drawing/2014/main" id="{83E71EA9-B997-5E9B-FF1B-86FFF97623FC}"/>
              </a:ext>
            </a:extLst>
          </p:cNvPr>
          <p:cNvPicPr>
            <a:picLocks noChangeAspect="1"/>
          </p:cNvPicPr>
          <p:nvPr/>
        </p:nvPicPr>
        <p:blipFill>
          <a:blip r:embed="rId4"/>
          <a:stretch>
            <a:fillRect/>
          </a:stretch>
        </p:blipFill>
        <p:spPr>
          <a:xfrm>
            <a:off x="1817427" y="2830292"/>
            <a:ext cx="5509146" cy="1834883"/>
          </a:xfrm>
          <a:prstGeom prst="rect">
            <a:avLst/>
          </a:prstGeom>
        </p:spPr>
      </p:pic>
      <p:cxnSp>
        <p:nvCxnSpPr>
          <p:cNvPr id="10" name="Conector recto de flecha 9">
            <a:extLst>
              <a:ext uri="{FF2B5EF4-FFF2-40B4-BE49-F238E27FC236}">
                <a16:creationId xmlns:a16="http://schemas.microsoft.com/office/drawing/2014/main" id="{8F47749E-4C77-7485-9E30-2103782C1FDC}"/>
              </a:ext>
            </a:extLst>
          </p:cNvPr>
          <p:cNvCxnSpPr>
            <a:cxnSpLocks/>
            <a:stCxn id="11" idx="2"/>
          </p:cNvCxnSpPr>
          <p:nvPr/>
        </p:nvCxnSpPr>
        <p:spPr>
          <a:xfrm flipH="1" flipV="1">
            <a:off x="1254020" y="3318247"/>
            <a:ext cx="914750" cy="169818"/>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2717D59D-C9DC-C907-276C-F9E027EB6C88}"/>
              </a:ext>
            </a:extLst>
          </p:cNvPr>
          <p:cNvSpPr/>
          <p:nvPr/>
        </p:nvSpPr>
        <p:spPr>
          <a:xfrm>
            <a:off x="2168770" y="3381166"/>
            <a:ext cx="504092" cy="2137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solidFill>
                <a:srgbClr val="FF0000"/>
              </a:solidFill>
            </a:endParaRPr>
          </a:p>
        </p:txBody>
      </p:sp>
      <p:sp>
        <p:nvSpPr>
          <p:cNvPr id="12" name="Google Shape;1603;p42">
            <a:extLst>
              <a:ext uri="{FF2B5EF4-FFF2-40B4-BE49-F238E27FC236}">
                <a16:creationId xmlns:a16="http://schemas.microsoft.com/office/drawing/2014/main" id="{912973FF-5F94-8839-0FD6-D066373F3A65}"/>
              </a:ext>
            </a:extLst>
          </p:cNvPr>
          <p:cNvSpPr txBox="1"/>
          <p:nvPr/>
        </p:nvSpPr>
        <p:spPr>
          <a:xfrm>
            <a:off x="93785" y="2774763"/>
            <a:ext cx="1277815"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variable dependiente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y</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14" name="Elipse 13">
            <a:extLst>
              <a:ext uri="{FF2B5EF4-FFF2-40B4-BE49-F238E27FC236}">
                <a16:creationId xmlns:a16="http://schemas.microsoft.com/office/drawing/2014/main" id="{2A555920-4E29-52AF-2C1D-756C3347D00B}"/>
              </a:ext>
            </a:extLst>
          </p:cNvPr>
          <p:cNvSpPr/>
          <p:nvPr/>
        </p:nvSpPr>
        <p:spPr>
          <a:xfrm>
            <a:off x="3135748" y="3381166"/>
            <a:ext cx="504092" cy="2137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solidFill>
                <a:srgbClr val="FF0000"/>
              </a:solidFill>
            </a:endParaRP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7463080" y="2698289"/>
            <a:ext cx="1388815"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variable independiente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X</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flipV="1">
            <a:off x="3639840" y="3318247"/>
            <a:ext cx="3921545" cy="16616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a:t>
            </a:r>
            <a:r>
              <a:rPr lang="es-ES" sz="1600" dirty="0">
                <a:solidFill>
                  <a:srgbClr val="EAFEE8"/>
                </a:solidFill>
                <a:latin typeface="Fira Sans Condensed Light" panose="020B0604020202020204" charset="0"/>
                <a:cs typeface="Times New Roman" panose="02020603050405020304" pitchFamily="18" charset="0"/>
              </a:rPr>
              <a:t>La variable dependiente (“</a:t>
            </a:r>
            <a:r>
              <a:rPr lang="es-ES" sz="1600" b="1" dirty="0">
                <a:solidFill>
                  <a:srgbClr val="EAFEE8"/>
                </a:solidFill>
                <a:latin typeface="Fira Sans Condensed Light" panose="020B0604020202020204" charset="0"/>
                <a:cs typeface="Times New Roman" panose="02020603050405020304" pitchFamily="18" charset="0"/>
              </a:rPr>
              <a:t>y</a:t>
            </a:r>
            <a:r>
              <a:rPr lang="es-ES" sz="1600" dirty="0">
                <a:solidFill>
                  <a:srgbClr val="EAFEE8"/>
                </a:solidFill>
                <a:latin typeface="Fira Sans Condensed Light" panose="020B0604020202020204" charset="0"/>
                <a:cs typeface="Times New Roman" panose="02020603050405020304" pitchFamily="18" charset="0"/>
              </a:rPr>
              <a:t>”) y la variable independiente (</a:t>
            </a:r>
            <a:r>
              <a:rPr lang="es-ES" sz="1600" b="1" dirty="0">
                <a:solidFill>
                  <a:srgbClr val="EAFEE8"/>
                </a:solidFill>
                <a:latin typeface="Fira Sans Condensed Light" panose="020B0604020202020204" charset="0"/>
                <a:cs typeface="Times New Roman" panose="02020603050405020304" pitchFamily="18" charset="0"/>
              </a:rPr>
              <a:t>“X”</a:t>
            </a:r>
            <a:r>
              <a:rPr lang="es-ES" sz="1600" dirty="0">
                <a:solidFill>
                  <a:srgbClr val="EAFEE8"/>
                </a:solidFill>
                <a:latin typeface="Fira Sans Condensed Light" panose="020B0604020202020204" charset="0"/>
                <a:cs typeface="Times New Roman" panose="02020603050405020304" pitchFamily="18" charset="0"/>
              </a:rPr>
              <a:t>) se ingresan como argumentos de entrada a la función de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regresión lineal simple</a:t>
            </a:r>
            <a:r>
              <a:rPr lang="es-ES" sz="1600" dirty="0">
                <a:solidFill>
                  <a:srgbClr val="EAFEE8"/>
                </a:solidFill>
                <a:latin typeface="Fira Sans Condensed Light" panose="020B0604020202020204" charset="0"/>
                <a:cs typeface="Times New Roman" panose="02020603050405020304" pitchFamily="18" charset="0"/>
              </a:rPr>
              <a:t>”, esta función calcula los coeficientes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a:t>
            </a:r>
            <a:r>
              <a:rPr lang="es-ES" sz="1600" dirty="0">
                <a:solidFill>
                  <a:srgbClr val="EAFEE8"/>
                </a:solidFill>
                <a:latin typeface="Fira Sans Condensed Light" panose="020B0604020202020204" charset="0"/>
                <a:cs typeface="Times New Roman" panose="02020603050405020304" pitchFamily="18" charset="0"/>
              </a:rPr>
              <a:t>” y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a:t>
            </a:r>
            <a:r>
              <a:rPr lang="es-ES" sz="1600" dirty="0">
                <a:solidFill>
                  <a:srgbClr val="EAFEE8"/>
                </a:solidFill>
                <a:latin typeface="Fira Sans Condensed Light" panose="020B0604020202020204" charset="0"/>
                <a:cs typeface="Times New Roman" panose="02020603050405020304" pitchFamily="18" charset="0"/>
              </a:rPr>
              <a:t>” del siguiente modelo:  </a:t>
            </a:r>
          </a:p>
        </p:txBody>
      </p:sp>
      <p:cxnSp>
        <p:nvCxnSpPr>
          <p:cNvPr id="10" name="Conector recto de flecha 9">
            <a:extLst>
              <a:ext uri="{FF2B5EF4-FFF2-40B4-BE49-F238E27FC236}">
                <a16:creationId xmlns:a16="http://schemas.microsoft.com/office/drawing/2014/main" id="{8F47749E-4C77-7485-9E30-2103782C1FDC}"/>
              </a:ext>
            </a:extLst>
          </p:cNvPr>
          <p:cNvCxnSpPr>
            <a:cxnSpLocks/>
          </p:cNvCxnSpPr>
          <p:nvPr/>
        </p:nvCxnSpPr>
        <p:spPr>
          <a:xfrm flipH="1">
            <a:off x="2731477" y="3896855"/>
            <a:ext cx="1113692" cy="36867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Google Shape;1603;p42">
            <a:extLst>
              <a:ext uri="{FF2B5EF4-FFF2-40B4-BE49-F238E27FC236}">
                <a16:creationId xmlns:a16="http://schemas.microsoft.com/office/drawing/2014/main" id="{912973FF-5F94-8839-0FD6-D066373F3A65}"/>
              </a:ext>
            </a:extLst>
          </p:cNvPr>
          <p:cNvSpPr txBox="1"/>
          <p:nvPr/>
        </p:nvSpPr>
        <p:spPr>
          <a:xfrm>
            <a:off x="1314515" y="3974533"/>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coeficiente(“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7334126" y="2877921"/>
            <a:ext cx="1388815"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Coeficiente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flipV="1">
            <a:off x="5064369" y="3318247"/>
            <a:ext cx="2497016" cy="428101"/>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603;p42">
            <a:extLst>
              <a:ext uri="{FF2B5EF4-FFF2-40B4-BE49-F238E27FC236}">
                <a16:creationId xmlns:a16="http://schemas.microsoft.com/office/drawing/2014/main" id="{239D8841-78B1-81ED-472B-30D8E4448EEE}"/>
              </a:ext>
            </a:extLst>
          </p:cNvPr>
          <p:cNvSpPr txBox="1"/>
          <p:nvPr/>
        </p:nvSpPr>
        <p:spPr>
          <a:xfrm>
            <a:off x="3112477" y="3267600"/>
            <a:ext cx="2580219" cy="478748"/>
          </a:xfrm>
          <a:prstGeom prst="rect">
            <a:avLst/>
          </a:prstGeom>
          <a:noFill/>
          <a:ln>
            <a:noFill/>
          </a:ln>
        </p:spPr>
        <p:txBody>
          <a:bodyPr spcFirstLastPara="1" wrap="square" lIns="91425" tIns="182875" rIns="91425" bIns="0" anchor="t" anchorCtr="0">
            <a:noAutofit/>
          </a:bodyPr>
          <a:lstStyle/>
          <a:p>
            <a:pPr algn="just"/>
            <a:r>
              <a:rPr lang="es-ES" sz="4000" b="1" dirty="0">
                <a:solidFill>
                  <a:schemeClr val="bg1">
                    <a:lumMod val="60000"/>
                    <a:lumOff val="40000"/>
                  </a:schemeClr>
                </a:solidFill>
                <a:latin typeface="Fira Sans Condensed Light" panose="020B0604020202020204" charset="0"/>
                <a:cs typeface="Times New Roman" panose="02020603050405020304" pitchFamily="18" charset="0"/>
              </a:rPr>
              <a:t>y= </a:t>
            </a:r>
            <a:r>
              <a:rPr lang="es-ES" sz="4000" b="1" dirty="0" err="1">
                <a:solidFill>
                  <a:schemeClr val="bg1">
                    <a:lumMod val="60000"/>
                    <a:lumOff val="40000"/>
                  </a:schemeClr>
                </a:solidFill>
                <a:latin typeface="Fira Sans Condensed Light" panose="020B0604020202020204" charset="0"/>
                <a:cs typeface="Times New Roman" panose="02020603050405020304" pitchFamily="18" charset="0"/>
              </a:rPr>
              <a:t>ax</a:t>
            </a:r>
            <a:r>
              <a:rPr lang="es-ES" sz="4000" b="1" dirty="0">
                <a:solidFill>
                  <a:schemeClr val="bg1">
                    <a:lumMod val="60000"/>
                    <a:lumOff val="40000"/>
                  </a:schemeClr>
                </a:solidFill>
                <a:latin typeface="Fira Sans Condensed Light" panose="020B0604020202020204" charset="0"/>
                <a:cs typeface="Times New Roman" panose="02020603050405020304" pitchFamily="18" charset="0"/>
              </a:rPr>
              <a:t> + b</a:t>
            </a:r>
          </a:p>
        </p:txBody>
      </p:sp>
    </p:spTree>
    <p:extLst>
      <p:ext uri="{BB962C8B-B14F-4D97-AF65-F5344CB8AC3E}">
        <p14:creationId xmlns:p14="http://schemas.microsoft.com/office/powerpoint/2010/main" val="910845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a:t>
            </a:r>
            <a:r>
              <a:rPr lang="es-ES" sz="1600" dirty="0">
                <a:solidFill>
                  <a:srgbClr val="EAFEE8"/>
                </a:solidFill>
                <a:latin typeface="Fira Sans Condensed Light" panose="020B0604020202020204" charset="0"/>
                <a:cs typeface="Times New Roman" panose="02020603050405020304" pitchFamily="18" charset="0"/>
              </a:rPr>
              <a:t>Con el modelo resultante se puede empezar a hacer predicciones y se puede calcular el coeficiente de correlación para determinar que tan eficiente es el modelo obtenido  :  </a:t>
            </a:r>
          </a:p>
        </p:txBody>
      </p:sp>
      <p:cxnSp>
        <p:nvCxnSpPr>
          <p:cNvPr id="10" name="Conector recto de flecha 9">
            <a:extLst>
              <a:ext uri="{FF2B5EF4-FFF2-40B4-BE49-F238E27FC236}">
                <a16:creationId xmlns:a16="http://schemas.microsoft.com/office/drawing/2014/main" id="{8F47749E-4C77-7485-9E30-2103782C1FDC}"/>
              </a:ext>
            </a:extLst>
          </p:cNvPr>
          <p:cNvCxnSpPr>
            <a:cxnSpLocks/>
          </p:cNvCxnSpPr>
          <p:nvPr/>
        </p:nvCxnSpPr>
        <p:spPr>
          <a:xfrm flipH="1" flipV="1">
            <a:off x="1510365" y="3402975"/>
            <a:ext cx="1448377" cy="34337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Google Shape;1603;p42">
            <a:extLst>
              <a:ext uri="{FF2B5EF4-FFF2-40B4-BE49-F238E27FC236}">
                <a16:creationId xmlns:a16="http://schemas.microsoft.com/office/drawing/2014/main" id="{912973FF-5F94-8839-0FD6-D066373F3A65}"/>
              </a:ext>
            </a:extLst>
          </p:cNvPr>
          <p:cNvSpPr txBox="1"/>
          <p:nvPr/>
        </p:nvSpPr>
        <p:spPr>
          <a:xfrm>
            <a:off x="89294" y="2894425"/>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Predicciones obtenidas</a:t>
            </a:r>
          </a:p>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a:t>
            </a:r>
            <a:r>
              <a:rPr lang="es-ES" sz="1600" dirty="0">
                <a:solidFill>
                  <a:srgbClr val="EAFEE8"/>
                </a:solidFill>
                <a:latin typeface="Fira Sans Condensed Light" panose="020B0604020202020204" charset="0"/>
                <a:cs typeface="Times New Roman" panose="02020603050405020304" pitchFamily="18" charset="0"/>
              </a:rPr>
              <a:t>total de accidentes</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6469460" y="3861751"/>
            <a:ext cx="1946030"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Valores de la variable independiente (</a:t>
            </a:r>
            <a:r>
              <a:rPr lang="es-ES" sz="1600" dirty="0">
                <a:solidFill>
                  <a:srgbClr val="EAFEE8"/>
                </a:solidFill>
                <a:latin typeface="Fira Sans Condensed Light" panose="020B0604020202020204" charset="0"/>
                <a:cs typeface="Times New Roman" panose="02020603050405020304" pitchFamily="18" charset="0"/>
              </a:rPr>
              <a:t>alcohol</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p>
        </p:txBody>
      </p:sp>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a:off x="4829908" y="3997569"/>
            <a:ext cx="1853750" cy="444629"/>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603;p42">
            <a:extLst>
              <a:ext uri="{FF2B5EF4-FFF2-40B4-BE49-F238E27FC236}">
                <a16:creationId xmlns:a16="http://schemas.microsoft.com/office/drawing/2014/main" id="{239D8841-78B1-81ED-472B-30D8E4448EEE}"/>
              </a:ext>
            </a:extLst>
          </p:cNvPr>
          <p:cNvSpPr txBox="1"/>
          <p:nvPr/>
        </p:nvSpPr>
        <p:spPr>
          <a:xfrm>
            <a:off x="2855081" y="3267600"/>
            <a:ext cx="3569166" cy="478748"/>
          </a:xfrm>
          <a:prstGeom prst="rect">
            <a:avLst/>
          </a:prstGeom>
          <a:noFill/>
          <a:ln>
            <a:noFill/>
          </a:ln>
        </p:spPr>
        <p:txBody>
          <a:bodyPr spcFirstLastPara="1" wrap="square" lIns="91425" tIns="182875" rIns="91425" bIns="0" anchor="t" anchorCtr="0">
            <a:noAutofit/>
          </a:bodyPr>
          <a:lstStyle/>
          <a:p>
            <a:pPr algn="just"/>
            <a:r>
              <a:rPr lang="es-ES" sz="4000" b="1" dirty="0">
                <a:solidFill>
                  <a:schemeClr val="bg1">
                    <a:lumMod val="60000"/>
                    <a:lumOff val="40000"/>
                  </a:schemeClr>
                </a:solidFill>
                <a:latin typeface="Fira Sans Condensed Light" panose="020B0604020202020204" charset="0"/>
                <a:cs typeface="Times New Roman" panose="02020603050405020304" pitchFamily="18" charset="0"/>
              </a:rPr>
              <a:t>y= 2.032x + 5.857</a:t>
            </a:r>
          </a:p>
        </p:txBody>
      </p:sp>
      <p:pic>
        <p:nvPicPr>
          <p:cNvPr id="13" name="Imagen 12">
            <a:extLst>
              <a:ext uri="{FF2B5EF4-FFF2-40B4-BE49-F238E27FC236}">
                <a16:creationId xmlns:a16="http://schemas.microsoft.com/office/drawing/2014/main" id="{879BA2DC-0E71-1F63-62E1-8B1535403274}"/>
              </a:ext>
            </a:extLst>
          </p:cNvPr>
          <p:cNvPicPr>
            <a:picLocks noChangeAspect="1"/>
          </p:cNvPicPr>
          <p:nvPr/>
        </p:nvPicPr>
        <p:blipFill rotWithShape="1">
          <a:blip r:embed="rId4"/>
          <a:srcRect t="-10908" r="7187" b="1"/>
          <a:stretch/>
        </p:blipFill>
        <p:spPr>
          <a:xfrm>
            <a:off x="6506470" y="2822971"/>
            <a:ext cx="2524986" cy="645482"/>
          </a:xfrm>
          <a:prstGeom prst="rect">
            <a:avLst/>
          </a:prstGeom>
        </p:spPr>
      </p:pic>
    </p:spTree>
    <p:extLst>
      <p:ext uri="{BB962C8B-B14F-4D97-AF65-F5344CB8AC3E}">
        <p14:creationId xmlns:p14="http://schemas.microsoft.com/office/powerpoint/2010/main" val="1109643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a:t>
            </a:r>
            <a:r>
              <a:rPr lang="es-ES" sz="1600" dirty="0">
                <a:solidFill>
                  <a:srgbClr val="EAFEE8"/>
                </a:solidFill>
                <a:latin typeface="Fira Sans Condensed Light" panose="020B0604020202020204" charset="0"/>
                <a:cs typeface="Times New Roman" panose="02020603050405020304" pitchFamily="18" charset="0"/>
              </a:rPr>
              <a:t>Se agregan las predicciones obtenidas al </a:t>
            </a:r>
            <a:r>
              <a:rPr lang="es-ES" sz="1600" dirty="0" err="1">
                <a:solidFill>
                  <a:srgbClr val="EAFEE8"/>
                </a:solidFill>
                <a:latin typeface="Fira Sans Condensed Light" panose="020B0604020202020204" charset="0"/>
                <a:cs typeface="Times New Roman" panose="02020603050405020304" pitchFamily="18" charset="0"/>
              </a:rPr>
              <a:t>dataframe</a:t>
            </a:r>
            <a:r>
              <a:rPr lang="es-ES" sz="1600" dirty="0">
                <a:solidFill>
                  <a:srgbClr val="EAFEE8"/>
                </a:solidFill>
                <a:latin typeface="Fira Sans Condensed Light" panose="020B0604020202020204" charset="0"/>
                <a:cs typeface="Times New Roman" panose="02020603050405020304" pitchFamily="18" charset="0"/>
              </a:rPr>
              <a:t> original para compararlas con los valores reales:  </a:t>
            </a:r>
          </a:p>
        </p:txBody>
      </p:sp>
      <p:sp>
        <p:nvSpPr>
          <p:cNvPr id="12" name="Google Shape;1603;p42">
            <a:extLst>
              <a:ext uri="{FF2B5EF4-FFF2-40B4-BE49-F238E27FC236}">
                <a16:creationId xmlns:a16="http://schemas.microsoft.com/office/drawing/2014/main" id="{912973FF-5F94-8839-0FD6-D066373F3A65}"/>
              </a:ext>
            </a:extLst>
          </p:cNvPr>
          <p:cNvSpPr txBox="1"/>
          <p:nvPr/>
        </p:nvSpPr>
        <p:spPr>
          <a:xfrm>
            <a:off x="89294" y="2894425"/>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Predicciones obtenidas</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113439" y="3799098"/>
            <a:ext cx="1946030" cy="786123"/>
          </a:xfrm>
          <a:prstGeom prst="rect">
            <a:avLst/>
          </a:prstGeom>
          <a:noFill/>
          <a:ln>
            <a:noFill/>
          </a:ln>
        </p:spPr>
        <p:txBody>
          <a:bodyPr spcFirstLastPara="1" wrap="square" lIns="91425" tIns="182875" rIns="91425" bIns="0" anchor="t" anchorCtr="0">
            <a:noAutofit/>
          </a:bodyPr>
          <a:lstStyle/>
          <a:p>
            <a:pPr algn="ct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Valores reales</a:t>
            </a:r>
          </a:p>
        </p:txBody>
      </p:sp>
      <p:pic>
        <p:nvPicPr>
          <p:cNvPr id="4" name="Imagen 3">
            <a:extLst>
              <a:ext uri="{FF2B5EF4-FFF2-40B4-BE49-F238E27FC236}">
                <a16:creationId xmlns:a16="http://schemas.microsoft.com/office/drawing/2014/main" id="{784A18D7-1808-ED27-0AD4-F45847115012}"/>
              </a:ext>
            </a:extLst>
          </p:cNvPr>
          <p:cNvPicPr>
            <a:picLocks noChangeAspect="1"/>
          </p:cNvPicPr>
          <p:nvPr/>
        </p:nvPicPr>
        <p:blipFill>
          <a:blip r:embed="rId4"/>
          <a:stretch>
            <a:fillRect/>
          </a:stretch>
        </p:blipFill>
        <p:spPr>
          <a:xfrm>
            <a:off x="2230314" y="2824929"/>
            <a:ext cx="4839690" cy="1980303"/>
          </a:xfrm>
          <a:prstGeom prst="rect">
            <a:avLst/>
          </a:prstGeom>
        </p:spPr>
      </p:pic>
      <p:cxnSp>
        <p:nvCxnSpPr>
          <p:cNvPr id="16" name="Conector recto de flecha 15">
            <a:extLst>
              <a:ext uri="{FF2B5EF4-FFF2-40B4-BE49-F238E27FC236}">
                <a16:creationId xmlns:a16="http://schemas.microsoft.com/office/drawing/2014/main" id="{42A0C581-BD77-FA49-DE40-79FDBAFAE789}"/>
              </a:ext>
            </a:extLst>
          </p:cNvPr>
          <p:cNvCxnSpPr>
            <a:cxnSpLocks/>
          </p:cNvCxnSpPr>
          <p:nvPr/>
        </p:nvCxnSpPr>
        <p:spPr>
          <a:xfrm flipH="1">
            <a:off x="1493094" y="2995750"/>
            <a:ext cx="2022325" cy="101354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8F47749E-4C77-7485-9E30-2103782C1FDC}"/>
              </a:ext>
            </a:extLst>
          </p:cNvPr>
          <p:cNvCxnSpPr>
            <a:cxnSpLocks/>
          </p:cNvCxnSpPr>
          <p:nvPr/>
        </p:nvCxnSpPr>
        <p:spPr>
          <a:xfrm flipH="1">
            <a:off x="1493094" y="2977662"/>
            <a:ext cx="1050814" cy="24040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0874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7" name="Imagen 6">
            <a:extLst>
              <a:ext uri="{FF2B5EF4-FFF2-40B4-BE49-F238E27FC236}">
                <a16:creationId xmlns:a16="http://schemas.microsoft.com/office/drawing/2014/main" id="{0029E185-248C-62D2-5F96-B585ADD289B3}"/>
              </a:ext>
            </a:extLst>
          </p:cNvPr>
          <p:cNvPicPr>
            <a:picLocks noChangeAspect="1"/>
          </p:cNvPicPr>
          <p:nvPr/>
        </p:nvPicPr>
        <p:blipFill>
          <a:blip r:embed="rId3"/>
          <a:stretch>
            <a:fillRect/>
          </a:stretch>
        </p:blipFill>
        <p:spPr>
          <a:xfrm>
            <a:off x="3299214" y="2613490"/>
            <a:ext cx="3537582" cy="2293995"/>
          </a:xfrm>
          <a:prstGeom prst="rect">
            <a:avLst/>
          </a:prstGeom>
        </p:spPr>
      </p:pic>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Simple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18241" y="2320714"/>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lineal simple?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18240" y="2093002"/>
            <a:ext cx="8333655"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a:t>
            </a:r>
            <a:r>
              <a:rPr lang="es-ES" sz="1600" dirty="0">
                <a:solidFill>
                  <a:srgbClr val="EAFEE8"/>
                </a:solidFill>
                <a:latin typeface="Fira Sans Condensed Light" panose="020B0604020202020204" charset="0"/>
                <a:cs typeface="Times New Roman" panose="02020603050405020304" pitchFamily="18" charset="0"/>
              </a:rPr>
              <a:t>Se grafican las predicciones obtenidas para compararlas con los valores reales:  </a:t>
            </a:r>
          </a:p>
        </p:txBody>
      </p:sp>
      <p:sp>
        <p:nvSpPr>
          <p:cNvPr id="12" name="Google Shape;1603;p42">
            <a:extLst>
              <a:ext uri="{FF2B5EF4-FFF2-40B4-BE49-F238E27FC236}">
                <a16:creationId xmlns:a16="http://schemas.microsoft.com/office/drawing/2014/main" id="{912973FF-5F94-8839-0FD6-D066373F3A65}"/>
              </a:ext>
            </a:extLst>
          </p:cNvPr>
          <p:cNvSpPr txBox="1"/>
          <p:nvPr/>
        </p:nvSpPr>
        <p:spPr>
          <a:xfrm>
            <a:off x="1062308" y="2799168"/>
            <a:ext cx="1540565" cy="581998"/>
          </a:xfrm>
          <a:prstGeom prst="rect">
            <a:avLst/>
          </a:prstGeom>
          <a:noFill/>
          <a:ln>
            <a:noFill/>
          </a:ln>
        </p:spPr>
        <p:txBody>
          <a:bodyPr spcFirstLastPara="1" wrap="square" lIns="91425" tIns="182875" rIns="91425" bIns="0" anchor="t" anchorCtr="0">
            <a:noAutofit/>
          </a:bodyPr>
          <a:lstStyle/>
          <a:p>
            <a:pPr algn="ctr"/>
            <a:r>
              <a:rPr lang="es-ES" sz="1600" dirty="0">
                <a:solidFill>
                  <a:srgbClr val="FF0000"/>
                </a:solidFill>
                <a:latin typeface="Fira Sans Condensed Light" panose="020B0604020202020204" charset="0"/>
                <a:cs typeface="Times New Roman" panose="02020603050405020304" pitchFamily="18" charset="0"/>
              </a:rPr>
              <a:t>Predicciones obtenidas</a:t>
            </a:r>
          </a:p>
        </p:txBody>
      </p:sp>
      <p:sp>
        <p:nvSpPr>
          <p:cNvPr id="15" name="Google Shape;1603;p42">
            <a:extLst>
              <a:ext uri="{FF2B5EF4-FFF2-40B4-BE49-F238E27FC236}">
                <a16:creationId xmlns:a16="http://schemas.microsoft.com/office/drawing/2014/main" id="{9F06FEF4-A1E7-E56B-891D-8CAE7AFB4C63}"/>
              </a:ext>
            </a:extLst>
          </p:cNvPr>
          <p:cNvSpPr txBox="1"/>
          <p:nvPr/>
        </p:nvSpPr>
        <p:spPr>
          <a:xfrm>
            <a:off x="859575" y="3803782"/>
            <a:ext cx="1946030" cy="786123"/>
          </a:xfrm>
          <a:prstGeom prst="rect">
            <a:avLst/>
          </a:prstGeom>
          <a:noFill/>
          <a:ln>
            <a:noFill/>
          </a:ln>
        </p:spPr>
        <p:txBody>
          <a:bodyPr spcFirstLastPara="1" wrap="square" lIns="91425" tIns="182875" rIns="91425" bIns="0" anchor="t" anchorCtr="0">
            <a:noAutofit/>
          </a:bodyPr>
          <a:lstStyle/>
          <a:p>
            <a:pPr algn="ctr"/>
            <a:r>
              <a:rPr lang="es-ES" sz="1600" dirty="0">
                <a:solidFill>
                  <a:srgbClr val="00B0F0"/>
                </a:solidFill>
                <a:latin typeface="Fira Sans Condensed Light" panose="020B0604020202020204" charset="0"/>
                <a:cs typeface="Times New Roman" panose="02020603050405020304" pitchFamily="18" charset="0"/>
              </a:rPr>
              <a:t>Valores reales</a:t>
            </a:r>
          </a:p>
        </p:txBody>
      </p:sp>
    </p:spTree>
    <p:extLst>
      <p:ext uri="{BB962C8B-B14F-4D97-AF65-F5344CB8AC3E}">
        <p14:creationId xmlns:p14="http://schemas.microsoft.com/office/powerpoint/2010/main" val="2558789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35"/>
          <p:cNvSpPr txBox="1">
            <a:spLocks noGrp="1"/>
          </p:cNvSpPr>
          <p:nvPr>
            <p:ph type="title" idx="15"/>
          </p:nvPr>
        </p:nvSpPr>
        <p:spPr>
          <a:xfrm>
            <a:off x="349985" y="869059"/>
            <a:ext cx="6551558" cy="572700"/>
          </a:xfrm>
          <a:prstGeom prst="rect">
            <a:avLst/>
          </a:prstGeom>
        </p:spPr>
        <p:txBody>
          <a:bodyPr spcFirstLastPara="1" wrap="square" lIns="91425" tIns="91425" rIns="91425" bIns="91425" anchor="t" anchorCtr="0">
            <a:noAutofit/>
          </a:bodyPr>
          <a:lstStyle/>
          <a:p>
            <a:pPr lvl="0"/>
            <a:r>
              <a:rPr lang="en" dirty="0"/>
              <a:t>Coeficiente de Correlación de Pearson</a:t>
            </a:r>
            <a:endParaRPr dirty="0"/>
          </a:p>
        </p:txBody>
      </p:sp>
      <p:sp>
        <p:nvSpPr>
          <p:cNvPr id="17" name="Google Shape;1603;p42"/>
          <p:cNvSpPr txBox="1"/>
          <p:nvPr/>
        </p:nvSpPr>
        <p:spPr>
          <a:xfrm>
            <a:off x="1371644" y="1523281"/>
            <a:ext cx="7108328" cy="947781"/>
          </a:xfrm>
          <a:prstGeom prst="rect">
            <a:avLst/>
          </a:prstGeom>
          <a:noFill/>
          <a:ln>
            <a:noFill/>
          </a:ln>
        </p:spPr>
        <p:txBody>
          <a:bodyPr spcFirstLastPara="1" wrap="square" lIns="91425" tIns="182875" rIns="91425" bIns="0" anchor="t" anchorCtr="0">
            <a:noAutofit/>
          </a:bodyPr>
          <a:lstStyle/>
          <a:p>
            <a:pPr algn="just">
              <a:spcAft>
                <a:spcPts val="1600"/>
              </a:spcAft>
            </a:pPr>
            <a:r>
              <a:rPr lang="es-ES" sz="1600" dirty="0">
                <a:solidFill>
                  <a:schemeClr val="tx2"/>
                </a:solidFill>
                <a:latin typeface="Fira Sans Condensed Light" panose="020B0604020202020204" charset="0"/>
              </a:rPr>
              <a:t>El coeficiente de correlación de </a:t>
            </a:r>
            <a:r>
              <a:rPr lang="es-ES" sz="1600" dirty="0" err="1">
                <a:solidFill>
                  <a:schemeClr val="tx2"/>
                </a:solidFill>
                <a:latin typeface="Fira Sans Condensed Light" panose="020B0604020202020204" charset="0"/>
              </a:rPr>
              <a:t>Pearson</a:t>
            </a:r>
            <a:r>
              <a:rPr lang="es-ES" sz="1600" dirty="0">
                <a:solidFill>
                  <a:schemeClr val="tx2"/>
                </a:solidFill>
                <a:latin typeface="Fira Sans Condensed Light" panose="020B0604020202020204" charset="0"/>
              </a:rPr>
              <a:t> (</a:t>
            </a:r>
            <a:r>
              <a:rPr lang="es-ES" sz="1600" b="1" dirty="0">
                <a:solidFill>
                  <a:schemeClr val="tx2"/>
                </a:solidFill>
                <a:latin typeface="Fira Sans Condensed Light" panose="020B0604020202020204" charset="0"/>
              </a:rPr>
              <a:t>R</a:t>
            </a:r>
            <a:r>
              <a:rPr lang="es-ES" sz="1600" dirty="0">
                <a:solidFill>
                  <a:schemeClr val="tx2"/>
                </a:solidFill>
                <a:latin typeface="Fira Sans Condensed Light" panose="020B0604020202020204" charset="0"/>
              </a:rPr>
              <a:t>) es una prueba estadística que permite analizar la relación entre dos variables medidas en un nivel por intervalos o de razón </a:t>
            </a:r>
            <a:r>
              <a:rPr lang="es-ES" sz="1600" dirty="0" err="1">
                <a:solidFill>
                  <a:schemeClr val="tx2"/>
                </a:solidFill>
                <a:latin typeface="Fira Sans Condensed Light" panose="020B0604020202020204" charset="0"/>
              </a:rPr>
              <a:t>Pearson</a:t>
            </a:r>
            <a:r>
              <a:rPr lang="es-ES" sz="1600" dirty="0">
                <a:solidFill>
                  <a:schemeClr val="tx2"/>
                </a:solidFill>
                <a:latin typeface="Fira Sans Condensed Light" panose="020B0604020202020204" charset="0"/>
              </a:rPr>
              <a:t>. </a:t>
            </a:r>
          </a:p>
          <a:p>
            <a:pPr algn="just">
              <a:spcAft>
                <a:spcPts val="1600"/>
              </a:spcAft>
            </a:pPr>
            <a:endParaRPr lang="es-ES" dirty="0">
              <a:solidFill>
                <a:schemeClr val="tx2"/>
              </a:solidFill>
              <a:latin typeface="Fira Sans Condensed Light" panose="020B0604020202020204" charset="0"/>
            </a:endParaRPr>
          </a:p>
          <a:p>
            <a:pPr algn="just">
              <a:spcAft>
                <a:spcPts val="1600"/>
              </a:spcAft>
            </a:pPr>
            <a:endParaRPr lang="en-US" dirty="0">
              <a:solidFill>
                <a:schemeClr val="tx2"/>
              </a:solidFill>
              <a:latin typeface="Fira Sans Condensed Light" panose="020B0604020202020204" charset="0"/>
            </a:endParaRP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2" name="Google Shape;1605;p42"/>
          <p:cNvGrpSpPr/>
          <p:nvPr/>
        </p:nvGrpSpPr>
        <p:grpSpPr>
          <a:xfrm>
            <a:off x="619933" y="1707476"/>
            <a:ext cx="635477" cy="633411"/>
            <a:chOff x="6039282" y="1042577"/>
            <a:chExt cx="734315" cy="731929"/>
          </a:xfrm>
        </p:grpSpPr>
        <p:sp>
          <p:nvSpPr>
            <p:cNvPr id="19"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1"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43" name="Google Shape;682;p35"/>
          <p:cNvSpPr txBox="1">
            <a:spLocks noGrp="1"/>
          </p:cNvSpPr>
          <p:nvPr>
            <p:ph type="title" idx="15"/>
          </p:nvPr>
        </p:nvSpPr>
        <p:spPr>
          <a:xfrm>
            <a:off x="328209" y="2806763"/>
            <a:ext cx="6551558" cy="572700"/>
          </a:xfrm>
          <a:prstGeom prst="rect">
            <a:avLst/>
          </a:prstGeom>
        </p:spPr>
        <p:txBody>
          <a:bodyPr spcFirstLastPara="1" wrap="square" lIns="91425" tIns="91425" rIns="91425" bIns="91425" anchor="t" anchorCtr="0">
            <a:noAutofit/>
          </a:bodyPr>
          <a:lstStyle/>
          <a:p>
            <a:pPr lvl="0"/>
            <a:r>
              <a:rPr lang="en" dirty="0"/>
              <a:t>Coeficiente de Determinación</a:t>
            </a:r>
            <a:endParaRPr dirty="0"/>
          </a:p>
        </p:txBody>
      </p:sp>
      <p:sp>
        <p:nvSpPr>
          <p:cNvPr id="45" name="Google Shape;1603;p42"/>
          <p:cNvSpPr txBox="1"/>
          <p:nvPr/>
        </p:nvSpPr>
        <p:spPr>
          <a:xfrm>
            <a:off x="1349868" y="3460985"/>
            <a:ext cx="7108328" cy="947781"/>
          </a:xfrm>
          <a:prstGeom prst="rect">
            <a:avLst/>
          </a:prstGeom>
          <a:noFill/>
          <a:ln>
            <a:noFill/>
          </a:ln>
        </p:spPr>
        <p:txBody>
          <a:bodyPr spcFirstLastPara="1" wrap="square" lIns="91425" tIns="182875" rIns="91425" bIns="0" anchor="t" anchorCtr="0">
            <a:noAutofit/>
          </a:bodyPr>
          <a:lstStyle/>
          <a:p>
            <a:pPr algn="just">
              <a:spcAft>
                <a:spcPts val="1600"/>
              </a:spcAft>
            </a:pPr>
            <a:r>
              <a:rPr lang="es-ES" sz="1600" dirty="0">
                <a:solidFill>
                  <a:schemeClr val="tx2"/>
                </a:solidFill>
                <a:latin typeface="Fira Sans Condensed Light" panose="020B0604020202020204" charset="0"/>
              </a:rPr>
              <a:t>El coeficiente de determinación (</a:t>
            </a:r>
            <a:r>
              <a:rPr lang="es-ES" sz="1600" b="1" dirty="0">
                <a:solidFill>
                  <a:schemeClr val="tx2"/>
                </a:solidFill>
                <a:latin typeface="Fira Sans Condensed Light" panose="020B0604020202020204" charset="0"/>
              </a:rPr>
              <a:t>R cuadrado</a:t>
            </a:r>
            <a:r>
              <a:rPr lang="es-ES" sz="1600" dirty="0">
                <a:solidFill>
                  <a:schemeClr val="tx2"/>
                </a:solidFill>
                <a:latin typeface="Fira Sans Condensed Light" panose="020B0604020202020204" charset="0"/>
              </a:rPr>
              <a:t>) indica la cantidad proporcional de variación en la variable de respuesta y, explicada según las variables independientes X en el modelo de regresión lineal. Cuanto mayor sea el R cuadrado, mayor será la variabilidad explicada por el modelo de regresión lineal.. </a:t>
            </a:r>
          </a:p>
          <a:p>
            <a:pPr algn="just">
              <a:spcAft>
                <a:spcPts val="1600"/>
              </a:spcAft>
            </a:pPr>
            <a:endParaRPr lang="es-ES" dirty="0">
              <a:solidFill>
                <a:schemeClr val="tx2"/>
              </a:solidFill>
              <a:latin typeface="Fira Sans Condensed Light" panose="020B0604020202020204" charset="0"/>
            </a:endParaRPr>
          </a:p>
          <a:p>
            <a:pPr algn="just">
              <a:spcAft>
                <a:spcPts val="1600"/>
              </a:spcAft>
            </a:pPr>
            <a:endParaRPr lang="en-US" dirty="0">
              <a:solidFill>
                <a:schemeClr val="tx2"/>
              </a:solidFill>
              <a:latin typeface="Fira Sans Condensed Light" panose="020B0604020202020204" charset="0"/>
            </a:endParaRP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51" name="Google Shape;1605;p42"/>
          <p:cNvGrpSpPr/>
          <p:nvPr/>
        </p:nvGrpSpPr>
        <p:grpSpPr>
          <a:xfrm>
            <a:off x="598157" y="3645180"/>
            <a:ext cx="635477" cy="633411"/>
            <a:chOff x="6039282" y="1042577"/>
            <a:chExt cx="734315" cy="731929"/>
          </a:xfrm>
        </p:grpSpPr>
        <p:sp>
          <p:nvSpPr>
            <p:cNvPr id="52"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1283164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35"/>
          <p:cNvSpPr txBox="1">
            <a:spLocks noGrp="1"/>
          </p:cNvSpPr>
          <p:nvPr>
            <p:ph type="title" idx="15"/>
          </p:nvPr>
        </p:nvSpPr>
        <p:spPr>
          <a:xfrm>
            <a:off x="349985" y="662225"/>
            <a:ext cx="3579758" cy="572700"/>
          </a:xfrm>
          <a:prstGeom prst="rect">
            <a:avLst/>
          </a:prstGeom>
        </p:spPr>
        <p:txBody>
          <a:bodyPr spcFirstLastPara="1" wrap="square" lIns="91425" tIns="91425" rIns="91425" bIns="91425" anchor="t" anchorCtr="0">
            <a:noAutofit/>
          </a:bodyPr>
          <a:lstStyle/>
          <a:p>
            <a:pPr lvl="0"/>
            <a:r>
              <a:rPr lang="en" dirty="0"/>
              <a:t>Escala de Correlación</a:t>
            </a:r>
            <a:endParaRPr dirty="0"/>
          </a:p>
        </p:txBody>
      </p:sp>
      <p:sp>
        <p:nvSpPr>
          <p:cNvPr id="17" name="Google Shape;1603;p42"/>
          <p:cNvSpPr txBox="1"/>
          <p:nvPr/>
        </p:nvSpPr>
        <p:spPr>
          <a:xfrm>
            <a:off x="1382529" y="1120505"/>
            <a:ext cx="7108328" cy="633300"/>
          </a:xfrm>
          <a:prstGeom prst="rect">
            <a:avLst/>
          </a:prstGeom>
          <a:noFill/>
          <a:ln>
            <a:noFill/>
          </a:ln>
        </p:spPr>
        <p:txBody>
          <a:bodyPr spcFirstLastPara="1" wrap="square" lIns="91425" tIns="182875" rIns="91425" bIns="0" anchor="t" anchorCtr="0">
            <a:noAutofit/>
          </a:bodyPr>
          <a:lstStyle/>
          <a:p>
            <a:pPr algn="just">
              <a:spcAft>
                <a:spcPts val="1600"/>
              </a:spcAft>
            </a:pPr>
            <a:r>
              <a:rPr lang="es-ES" dirty="0">
                <a:solidFill>
                  <a:schemeClr val="tx2"/>
                </a:solidFill>
                <a:latin typeface="Fira Sans Condensed Light" panose="020B0604020202020204" charset="0"/>
              </a:rPr>
              <a:t>El coeficiente puede variar de -1 a 1, donde el signo indica la dirección de la correlación y el valor numérico, la magnitud de la correlación. En este contexto se resumen algunos criterios de interpretación:</a:t>
            </a:r>
          </a:p>
          <a:p>
            <a:pPr algn="just">
              <a:spcAft>
                <a:spcPts val="1600"/>
              </a:spcAft>
            </a:pPr>
            <a:endParaRPr lang="es-ES" dirty="0">
              <a:solidFill>
                <a:schemeClr val="tx2"/>
              </a:solidFill>
              <a:latin typeface="Fira Sans Condensed Light" panose="020B0604020202020204" charset="0"/>
            </a:endParaRPr>
          </a:p>
          <a:p>
            <a:pPr algn="just">
              <a:spcAft>
                <a:spcPts val="1600"/>
              </a:spcAft>
            </a:pPr>
            <a:endParaRPr lang="en-US" dirty="0">
              <a:solidFill>
                <a:schemeClr val="tx2"/>
              </a:solidFill>
              <a:latin typeface="Fira Sans Condensed Light" panose="020B0604020202020204" charset="0"/>
            </a:endParaRP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2" name="Google Shape;1605;p42"/>
          <p:cNvGrpSpPr/>
          <p:nvPr/>
        </p:nvGrpSpPr>
        <p:grpSpPr>
          <a:xfrm>
            <a:off x="619933" y="1326466"/>
            <a:ext cx="635477" cy="633411"/>
            <a:chOff x="6039282" y="1042577"/>
            <a:chExt cx="734315" cy="731929"/>
          </a:xfrm>
        </p:grpSpPr>
        <p:sp>
          <p:nvSpPr>
            <p:cNvPr id="19"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1"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graphicFrame>
        <p:nvGraphicFramePr>
          <p:cNvPr id="40" name="Google Shape;8935;p54"/>
          <p:cNvGraphicFramePr/>
          <p:nvPr>
            <p:extLst>
              <p:ext uri="{D42A27DB-BD31-4B8C-83A1-F6EECF244321}">
                <p14:modId xmlns:p14="http://schemas.microsoft.com/office/powerpoint/2010/main" val="2223714566"/>
              </p:ext>
            </p:extLst>
          </p:nvPr>
        </p:nvGraphicFramePr>
        <p:xfrm>
          <a:off x="1778845" y="2002062"/>
          <a:ext cx="2814212" cy="3108780"/>
        </p:xfrm>
        <a:graphic>
          <a:graphicData uri="http://schemas.openxmlformats.org/drawingml/2006/table">
            <a:tbl>
              <a:tblPr>
                <a:noFill/>
                <a:tableStyleId>{95E397FE-706D-4E7D-AA01-638484C1D090}</a:tableStyleId>
              </a:tblPr>
              <a:tblGrid>
                <a:gridCol w="671073">
                  <a:extLst>
                    <a:ext uri="{9D8B030D-6E8A-4147-A177-3AD203B41FA5}">
                      <a16:colId xmlns:a16="http://schemas.microsoft.com/office/drawing/2014/main" val="20000"/>
                    </a:ext>
                  </a:extLst>
                </a:gridCol>
                <a:gridCol w="2143139">
                  <a:extLst>
                    <a:ext uri="{9D8B030D-6E8A-4147-A177-3AD203B41FA5}">
                      <a16:colId xmlns:a16="http://schemas.microsoft.com/office/drawing/2014/main" val="20001"/>
                    </a:ext>
                  </a:extLst>
                </a:gridCol>
              </a:tblGrid>
              <a:tr h="311388">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-1</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negativa perfecta</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0"/>
                  </a:ext>
                </a:extLst>
              </a:tr>
              <a:tr h="467095">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-0,90</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negativa muy fuerte</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622802">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-0,75</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negativa considerable</a:t>
                      </a:r>
                    </a:p>
                    <a:p>
                      <a:pPr marL="0" lvl="0" indent="0" algn="l" rtl="0">
                        <a:spcBef>
                          <a:spcPts val="0"/>
                        </a:spcBef>
                        <a:spcAft>
                          <a:spcPts val="0"/>
                        </a:spcAft>
                        <a:buNone/>
                      </a:pPr>
                      <a:endParaRPr sz="1200" dirty="0">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2"/>
                  </a:ext>
                </a:extLst>
              </a:tr>
              <a:tr h="467095">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-0,50</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negativa media</a:t>
                      </a:r>
                    </a:p>
                    <a:p>
                      <a:pPr marL="0" lvl="0" indent="0" algn="l" rtl="0">
                        <a:spcBef>
                          <a:spcPts val="0"/>
                        </a:spcBef>
                        <a:spcAft>
                          <a:spcPts val="0"/>
                        </a:spcAft>
                        <a:buNone/>
                      </a:pPr>
                      <a:endParaRPr sz="1200" dirty="0">
                        <a:latin typeface="Fira Sans Condensed Light" panose="020B0604020202020204" charset="0"/>
                      </a:endParaRP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3"/>
                  </a:ext>
                </a:extLst>
              </a:tr>
              <a:tr h="467095">
                <a:tc>
                  <a:txBody>
                    <a:bodyPr/>
                    <a:lstStyle/>
                    <a:p>
                      <a:pPr marL="0" lvl="0" indent="0" algn="l" rtl="0">
                        <a:spcBef>
                          <a:spcPts val="0"/>
                        </a:spcBef>
                        <a:spcAft>
                          <a:spcPts val="0"/>
                        </a:spcAft>
                        <a:buNone/>
                      </a:pPr>
                      <a:r>
                        <a:rPr lang="en-US" sz="1200" dirty="0">
                          <a:solidFill>
                            <a:srgbClr val="FF0000"/>
                          </a:solidFill>
                          <a:latin typeface="Fira Sans Condensed Light" panose="020B0604020202020204" charset="0"/>
                        </a:rPr>
                        <a:t>-0,10</a:t>
                      </a:r>
                      <a:endParaRPr sz="1200" dirty="0">
                        <a:solidFill>
                          <a:srgbClr val="FF000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negativa débil</a:t>
                      </a:r>
                    </a:p>
                    <a:p>
                      <a:pPr marL="0" lvl="0" indent="0" algn="l" rtl="0">
                        <a:spcBef>
                          <a:spcPts val="0"/>
                        </a:spcBef>
                        <a:spcAft>
                          <a:spcPts val="0"/>
                        </a:spcAft>
                        <a:buNone/>
                      </a:pPr>
                      <a:endParaRPr sz="1200" dirty="0">
                        <a:latin typeface="Fira Sans Condensed Light" panose="020B0604020202020204" charset="0"/>
                      </a:endParaRP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4"/>
                  </a:ext>
                </a:extLst>
              </a:tr>
              <a:tr h="311388">
                <a:tc>
                  <a:txBody>
                    <a:bodyPr/>
                    <a:lstStyle/>
                    <a:p>
                      <a:pPr marL="0" lvl="0" indent="0" algn="l" rtl="0">
                        <a:spcBef>
                          <a:spcPts val="0"/>
                        </a:spcBef>
                        <a:spcAft>
                          <a:spcPts val="0"/>
                        </a:spcAft>
                        <a:buNone/>
                      </a:pPr>
                      <a:r>
                        <a:rPr lang="en-US" sz="1200" dirty="0">
                          <a:solidFill>
                            <a:schemeClr val="tx2"/>
                          </a:solidFill>
                          <a:latin typeface="Fira Sans Condensed Light" panose="020B0604020202020204" charset="0"/>
                        </a:rPr>
                        <a:t>0</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nula</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42" name="Google Shape;8935;p54"/>
          <p:cNvGraphicFramePr/>
          <p:nvPr>
            <p:extLst>
              <p:ext uri="{D42A27DB-BD31-4B8C-83A1-F6EECF244321}">
                <p14:modId xmlns:p14="http://schemas.microsoft.com/office/powerpoint/2010/main" val="3877050746"/>
              </p:ext>
            </p:extLst>
          </p:nvPr>
        </p:nvGraphicFramePr>
        <p:xfrm>
          <a:off x="4826762" y="2010191"/>
          <a:ext cx="2804845" cy="3071972"/>
        </p:xfrm>
        <a:graphic>
          <a:graphicData uri="http://schemas.openxmlformats.org/drawingml/2006/table">
            <a:tbl>
              <a:tblPr>
                <a:noFill/>
                <a:tableStyleId>{95E397FE-706D-4E7D-AA01-638484C1D090}</a:tableStyleId>
              </a:tblPr>
              <a:tblGrid>
                <a:gridCol w="668839">
                  <a:extLst>
                    <a:ext uri="{9D8B030D-6E8A-4147-A177-3AD203B41FA5}">
                      <a16:colId xmlns:a16="http://schemas.microsoft.com/office/drawing/2014/main" val="20000"/>
                    </a:ext>
                  </a:extLst>
                </a:gridCol>
                <a:gridCol w="2136006">
                  <a:extLst>
                    <a:ext uri="{9D8B030D-6E8A-4147-A177-3AD203B41FA5}">
                      <a16:colId xmlns:a16="http://schemas.microsoft.com/office/drawing/2014/main" val="20001"/>
                    </a:ext>
                  </a:extLst>
                </a:gridCol>
              </a:tblGrid>
              <a:tr h="441783">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+1</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positiva perfecta</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0"/>
                  </a:ext>
                </a:extLst>
              </a:tr>
              <a:tr h="662694">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+0,90</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lvl="0" indent="0" algn="l" rtl="0">
                        <a:spcBef>
                          <a:spcPts val="0"/>
                        </a:spcBef>
                        <a:spcAft>
                          <a:spcPts val="0"/>
                        </a:spcAft>
                        <a:buNone/>
                      </a:pPr>
                      <a:r>
                        <a:rPr lang="es-ES" sz="1200" dirty="0">
                          <a:solidFill>
                            <a:schemeClr val="tx2"/>
                          </a:solidFill>
                          <a:latin typeface="Fira Sans Condensed Light" panose="020B0604020202020204" charset="0"/>
                        </a:rPr>
                        <a:t>Correlación positiva muy fuerte</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tcPr>
                </a:tc>
                <a:extLst>
                  <a:ext uri="{0D108BD9-81ED-4DB2-BD59-A6C34878D82A}">
                    <a16:rowId xmlns:a16="http://schemas.microsoft.com/office/drawing/2014/main" val="10001"/>
                  </a:ext>
                </a:extLst>
              </a:tr>
              <a:tr h="662694">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+0,75</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positiva considerable</a:t>
                      </a: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2"/>
                  </a:ext>
                </a:extLst>
              </a:tr>
              <a:tr h="441783">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+0,50</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positiva media</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3"/>
                  </a:ext>
                </a:extLst>
              </a:tr>
              <a:tr h="441783">
                <a:tc>
                  <a:txBody>
                    <a:bodyPr/>
                    <a:lstStyle/>
                    <a:p>
                      <a:pPr marL="0" lvl="0" indent="0" algn="l" rtl="0">
                        <a:spcBef>
                          <a:spcPts val="0"/>
                        </a:spcBef>
                        <a:spcAft>
                          <a:spcPts val="0"/>
                        </a:spcAft>
                        <a:buNone/>
                      </a:pPr>
                      <a:r>
                        <a:rPr lang="en-US" sz="1200" dirty="0">
                          <a:solidFill>
                            <a:srgbClr val="00B0F0"/>
                          </a:solidFill>
                          <a:latin typeface="Fira Sans Condensed Light" panose="020B0604020202020204" charset="0"/>
                        </a:rPr>
                        <a:t>+0,10</a:t>
                      </a:r>
                      <a:endParaRPr sz="1200" dirty="0">
                        <a:solidFill>
                          <a:srgbClr val="00B0F0"/>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positiva débil</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4"/>
                  </a:ext>
                </a:extLst>
              </a:tr>
              <a:tr h="421235">
                <a:tc>
                  <a:txBody>
                    <a:bodyPr/>
                    <a:lstStyle/>
                    <a:p>
                      <a:pPr marL="0" lvl="0" indent="0" algn="l" rtl="0">
                        <a:spcBef>
                          <a:spcPts val="0"/>
                        </a:spcBef>
                        <a:spcAft>
                          <a:spcPts val="0"/>
                        </a:spcAft>
                        <a:buNone/>
                      </a:pPr>
                      <a:r>
                        <a:rPr lang="en-US" sz="1200" dirty="0">
                          <a:solidFill>
                            <a:schemeClr val="tx2"/>
                          </a:solidFill>
                          <a:latin typeface="Fira Sans Condensed Light" panose="020B0604020202020204" charset="0"/>
                        </a:rPr>
                        <a:t>0</a:t>
                      </a:r>
                      <a:endParaRPr sz="1200" dirty="0">
                        <a:solidFill>
                          <a:schemeClr val="tx2"/>
                        </a:solidFill>
                        <a:latin typeface="Fira Sans Condensed Light" panose="020B0604020202020204" charset="0"/>
                      </a:endParaRPr>
                    </a:p>
                  </a:txBody>
                  <a:tcPr marL="91425" marR="91425" marT="91425" marB="91425">
                    <a:lnL w="9525" cap="flat" cmpd="sng">
                      <a:solidFill>
                        <a:srgbClr val="F2F2F2"/>
                      </a:solidFill>
                      <a:prstDash val="solid"/>
                      <a:round/>
                      <a:headEnd type="none" w="sm" len="sm"/>
                      <a:tailEnd type="none" w="sm" len="sm"/>
                    </a:lnL>
                    <a:lnR w="9525" cap="flat" cmpd="sng" algn="ctr">
                      <a:solidFill>
                        <a:srgbClr val="F2F2F2"/>
                      </a:solidFill>
                      <a:prstDash val="solid"/>
                      <a:round/>
                      <a:headEnd type="none" w="sm" len="sm"/>
                      <a:tailEnd type="none" w="sm" len="sm"/>
                    </a:lnR>
                    <a:lnT w="9525" cap="flat" cmpd="sng" algn="ctr">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chemeClr val="tx2"/>
                          </a:solidFill>
                          <a:latin typeface="Fira Sans Condensed Light" panose="020B0604020202020204" charset="0"/>
                        </a:rPr>
                        <a:t>Correlación nula</a:t>
                      </a:r>
                    </a:p>
                  </a:txBody>
                  <a:tcPr marL="91425" marR="91425" marT="91425" marB="91425">
                    <a:lnL w="9525" cap="flat" cmpd="sng" algn="ctr">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83164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a:t>
            </a:r>
            <a:r>
              <a:rPr lang="es-ES" sz="3000" b="1" dirty="0">
                <a:solidFill>
                  <a:srgbClr val="F3F3F3"/>
                </a:solidFill>
                <a:latin typeface="Rajdhani"/>
                <a:ea typeface="Rajdhani"/>
                <a:cs typeface="Rajdhani"/>
                <a:sym typeface="Rajdhani"/>
              </a:rPr>
              <a:t>Múltiple</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373702" y="1867373"/>
            <a:ext cx="0" cy="25103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la regresión Lineal Múltiple?</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436643" y="1920432"/>
            <a:ext cx="8333655" cy="478748"/>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La regresión lineal múltiple es la extensión de el modelo de regresión lineal simple. Este tipo de regresión puede utilizarse cuando queremos conocer la fuerza del efecto que las variables independientes tienen en una variable dependiente. Por ejemplo, el tiempo de revisión, la ansiedad de la prueba, la asistencia a clase y el género, ¿tiene algún efecto en el examen de rendimiento de los estudiantes?</a:t>
            </a:r>
          </a:p>
        </p:txBody>
      </p:sp>
      <p:pic>
        <p:nvPicPr>
          <p:cNvPr id="1026" name="Picture 2" descr="▷ Regresión Lineal Múltiple | 2022 | Web y Empresas">
            <a:extLst>
              <a:ext uri="{FF2B5EF4-FFF2-40B4-BE49-F238E27FC236}">
                <a16:creationId xmlns:a16="http://schemas.microsoft.com/office/drawing/2014/main" id="{D043EE15-F4FF-3A8D-1774-63F396B2E0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7082" y="3341471"/>
            <a:ext cx="1991115" cy="140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947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Lineal </a:t>
            </a:r>
            <a:r>
              <a:rPr lang="es-ES" sz="3000" b="1" dirty="0">
                <a:solidFill>
                  <a:srgbClr val="F3F3F3"/>
                </a:solidFill>
                <a:latin typeface="Rajdhani"/>
                <a:ea typeface="Rajdhani"/>
                <a:cs typeface="Rajdhani"/>
                <a:sym typeface="Rajdhani"/>
              </a:rPr>
              <a:t>Múltiple</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612417"/>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matemático</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436643" y="1902107"/>
            <a:ext cx="8333655" cy="478748"/>
          </a:xfrm>
          <a:prstGeom prst="rect">
            <a:avLst/>
          </a:prstGeom>
          <a:noFill/>
          <a:ln>
            <a:noFill/>
          </a:ln>
        </p:spPr>
        <p:txBody>
          <a:bodyPr spcFirstLastPara="1" wrap="square" lIns="91425" tIns="182875" rIns="91425" bIns="0" anchor="t" anchorCtr="0">
            <a:noAutofit/>
          </a:bodyPr>
          <a:lstStyle/>
          <a:p>
            <a:pPr algn="just"/>
            <a:endParaRPr lang="es-ES" sz="1600" dirty="0">
              <a:solidFill>
                <a:srgbClr val="EAFEE8"/>
              </a:solidFill>
              <a:latin typeface="Fira Sans Condensed Light" panose="020B0604020202020204" charset="0"/>
              <a:cs typeface="Times New Roman" panose="02020603050405020304" pitchFamily="18" charset="0"/>
            </a:endParaRPr>
          </a:p>
        </p:txBody>
      </p:sp>
      <p:pic>
        <p:nvPicPr>
          <p:cNvPr id="2050" name="Picture 2" descr="Las Matemáticas del Machine Learning: Ejemplos de Regresión Lineal (II) y  Multilineal - Think Big Empresas">
            <a:extLst>
              <a:ext uri="{FF2B5EF4-FFF2-40B4-BE49-F238E27FC236}">
                <a16:creationId xmlns:a16="http://schemas.microsoft.com/office/drawing/2014/main" id="{EB715133-CEFE-AED7-B90B-CA3EB26FC58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6879" b="66503"/>
          <a:stretch/>
        </p:blipFill>
        <p:spPr bwMode="auto">
          <a:xfrm>
            <a:off x="1499981" y="2725460"/>
            <a:ext cx="5826942" cy="929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723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35"/>
          <p:cNvSpPr txBox="1">
            <a:spLocks noGrp="1"/>
          </p:cNvSpPr>
          <p:nvPr>
            <p:ph type="title" idx="15"/>
          </p:nvPr>
        </p:nvSpPr>
        <p:spPr>
          <a:xfrm>
            <a:off x="273780" y="509825"/>
            <a:ext cx="3340271" cy="572700"/>
          </a:xfrm>
          <a:prstGeom prst="rect">
            <a:avLst/>
          </a:prstGeom>
        </p:spPr>
        <p:txBody>
          <a:bodyPr spcFirstLastPara="1" wrap="square" lIns="91425" tIns="91425" rIns="91425" bIns="91425" anchor="t" anchorCtr="0">
            <a:noAutofit/>
          </a:bodyPr>
          <a:lstStyle/>
          <a:p>
            <a:pPr lvl="0"/>
            <a:r>
              <a:rPr lang="en" dirty="0"/>
              <a:t>Regresión lineal</a:t>
            </a:r>
            <a:endParaRPr dirty="0"/>
          </a:p>
        </p:txBody>
      </p:sp>
      <p:sp>
        <p:nvSpPr>
          <p:cNvPr id="17" name="Google Shape;1603;p42"/>
          <p:cNvSpPr txBox="1"/>
          <p:nvPr/>
        </p:nvSpPr>
        <p:spPr>
          <a:xfrm>
            <a:off x="1382529" y="1120505"/>
            <a:ext cx="7108328" cy="633300"/>
          </a:xfrm>
          <a:prstGeom prst="rect">
            <a:avLst/>
          </a:prstGeom>
          <a:noFill/>
          <a:ln>
            <a:noFill/>
          </a:ln>
        </p:spPr>
        <p:txBody>
          <a:bodyPr spcFirstLastPara="1" wrap="square" lIns="91425" tIns="182875" rIns="91425" bIns="0" anchor="t" anchorCtr="0">
            <a:noAutofit/>
          </a:bodyPr>
          <a:lstStyle/>
          <a:p>
            <a:pPr algn="just"/>
            <a:r>
              <a:rPr lang="es-ES" dirty="0">
                <a:solidFill>
                  <a:schemeClr val="accent4"/>
                </a:solidFill>
                <a:latin typeface="Fira Sans Condensed Light" panose="020B0604020202020204" charset="0"/>
                <a:cs typeface="Times New Roman" panose="02020603050405020304" pitchFamily="18" charset="0"/>
              </a:rPr>
              <a:t>Un modelo de regresión lineal describe la relación entre una variable dependiente "y" y una o más variables independientes "X". La variable dependiente también se denomina variable de respuesta. Las variables independientes también se denominan variables explicativas o </a:t>
            </a:r>
            <a:r>
              <a:rPr lang="es-ES" dirty="0" err="1">
                <a:solidFill>
                  <a:schemeClr val="accent4"/>
                </a:solidFill>
                <a:latin typeface="Fira Sans Condensed Light" panose="020B0604020202020204" charset="0"/>
                <a:cs typeface="Times New Roman" panose="02020603050405020304" pitchFamily="18" charset="0"/>
              </a:rPr>
              <a:t>predictoras</a:t>
            </a:r>
            <a:r>
              <a:rPr lang="es-ES" dirty="0">
                <a:solidFill>
                  <a:schemeClr val="accent4"/>
                </a:solidFill>
                <a:latin typeface="Fira Sans Condensed Light" panose="020B0604020202020204" charset="0"/>
                <a:cs typeface="Times New Roman" panose="02020603050405020304" pitchFamily="18" charset="0"/>
              </a:rPr>
              <a:t>. La matriz X de observaciones sobre variables </a:t>
            </a:r>
            <a:r>
              <a:rPr lang="es-ES" dirty="0" err="1">
                <a:solidFill>
                  <a:schemeClr val="accent4"/>
                </a:solidFill>
                <a:latin typeface="Fira Sans Condensed Light" panose="020B0604020202020204" charset="0"/>
                <a:cs typeface="Times New Roman" panose="02020603050405020304" pitchFamily="18" charset="0"/>
              </a:rPr>
              <a:t>predictoras</a:t>
            </a:r>
            <a:r>
              <a:rPr lang="es-ES" dirty="0">
                <a:solidFill>
                  <a:schemeClr val="accent4"/>
                </a:solidFill>
                <a:latin typeface="Fira Sans Condensed Light" panose="020B0604020202020204" charset="0"/>
                <a:cs typeface="Times New Roman" panose="02020603050405020304" pitchFamily="18" charset="0"/>
              </a:rPr>
              <a:t> suele denominarse matriz de diseño..</a:t>
            </a: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grpSp>
        <p:nvGrpSpPr>
          <p:cNvPr id="2" name="Google Shape;1605;p42"/>
          <p:cNvGrpSpPr/>
          <p:nvPr/>
        </p:nvGrpSpPr>
        <p:grpSpPr>
          <a:xfrm>
            <a:off x="619933" y="1326466"/>
            <a:ext cx="635477" cy="633411"/>
            <a:chOff x="6039282" y="1042577"/>
            <a:chExt cx="734315" cy="731929"/>
          </a:xfrm>
        </p:grpSpPr>
        <p:sp>
          <p:nvSpPr>
            <p:cNvPr id="19" name="Google Shape;1606;p42"/>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607;p42"/>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608;p42"/>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609;p42"/>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610;p42"/>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611;p42"/>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612;p42"/>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613;p42"/>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614;p42"/>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615;p42"/>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616;p42"/>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17;p42"/>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618;p42"/>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619;p42"/>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C4125"/>
            </a:solidFill>
            <a:ln w="9525" cap="flat" cmpd="sng">
              <a:solidFill>
                <a:srgbClr val="CC412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620;p42"/>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621;p42"/>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622;p42"/>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623;p42"/>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624;p42"/>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625;p42"/>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F3F3F3"/>
            </a:solidFill>
            <a:ln w="9525"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626;p42"/>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mc:AlternateContent xmlns:mc="http://schemas.openxmlformats.org/markup-compatibility/2006" xmlns:a14="http://schemas.microsoft.com/office/drawing/2010/main">
        <mc:Choice Requires="a14">
          <p:sp>
            <p:nvSpPr>
              <p:cNvPr id="42" name="Rectángulo 41"/>
              <p:cNvSpPr/>
              <p:nvPr/>
            </p:nvSpPr>
            <p:spPr>
              <a:xfrm>
                <a:off x="2724111" y="2295800"/>
                <a:ext cx="40587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𝑌</m:t>
                      </m:r>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s-ES" sz="1800" i="1">
                          <a:solidFill>
                            <a:schemeClr val="accent4"/>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𝑏</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ES" sz="1800" i="1">
                              <a:solidFill>
                                <a:schemeClr val="accent4"/>
                              </a:solidFill>
                              <a:effectLst/>
                              <a:latin typeface="Cambria Math" panose="02040503050406030204" pitchFamily="18" charset="0"/>
                            </a:rPr>
                          </m:ctrlPr>
                        </m:sSubPr>
                        <m:e>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i="1">
                              <a:solidFill>
                                <a:schemeClr val="accent4"/>
                              </a:solidFill>
                              <a:effectLst/>
                              <a:latin typeface="Cambria Math" panose="02040503050406030204" pitchFamily="18" charset="0"/>
                              <a:ea typeface="Calibri" panose="020F0502020204030204" pitchFamily="34" charset="0"/>
                              <a:cs typeface="Times New Roman" panose="02020603050405020304" pitchFamily="18" charset="0"/>
                            </a:rPr>
                            <m:t>𝑛</m:t>
                          </m:r>
                        </m:sub>
                      </m:sSub>
                    </m:oMath>
                  </m:oMathPara>
                </a14:m>
                <a:endParaRPr lang="es-ES" sz="1800" dirty="0">
                  <a:solidFill>
                    <a:schemeClr val="accent4"/>
                  </a:solidFill>
                </a:endParaRPr>
              </a:p>
            </p:txBody>
          </p:sp>
        </mc:Choice>
        <mc:Fallback xmlns="">
          <p:sp>
            <p:nvSpPr>
              <p:cNvPr id="42" name="Rectángulo 41"/>
              <p:cNvSpPr>
                <a:spLocks noRot="1" noChangeAspect="1" noMove="1" noResize="1" noEditPoints="1" noAdjustHandles="1" noChangeArrowheads="1" noChangeShapeType="1" noTextEdit="1"/>
              </p:cNvSpPr>
              <p:nvPr/>
            </p:nvSpPr>
            <p:spPr>
              <a:xfrm>
                <a:off x="2724111" y="2295800"/>
                <a:ext cx="4058740" cy="369332"/>
              </a:xfrm>
              <a:prstGeom prst="rect">
                <a:avLst/>
              </a:prstGeom>
              <a:blipFill rotWithShape="0">
                <a:blip r:embed="rId3"/>
                <a:stretch>
                  <a:fillRect b="-1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4" name="Rectángulo 43"/>
              <p:cNvSpPr/>
              <p:nvPr/>
            </p:nvSpPr>
            <p:spPr>
              <a:xfrm>
                <a:off x="238623" y="2937315"/>
                <a:ext cx="2962799" cy="14038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chemeClr val="accent4"/>
                          </a:solidFill>
                          <a:latin typeface="Cambria Math" panose="02040503050406030204" pitchFamily="18" charset="0"/>
                        </a:rPr>
                        <m:t>𝑋</m:t>
                      </m:r>
                      <m:r>
                        <a:rPr lang="es-ES" sz="1400" i="0">
                          <a:solidFill>
                            <a:schemeClr val="accent4"/>
                          </a:solidFill>
                          <a:latin typeface="Cambria Math" panose="02040503050406030204" pitchFamily="18" charset="0"/>
                        </a:rPr>
                        <m:t>=  </m:t>
                      </m:r>
                      <m:d>
                        <m:dPr>
                          <m:begChr m:val="["/>
                          <m:endChr m:val="]"/>
                          <m:ctrlPr>
                            <a:rPr lang="es-ES" sz="1400" i="1">
                              <a:solidFill>
                                <a:schemeClr val="accent4"/>
                              </a:solidFill>
                              <a:latin typeface="Cambria Math" panose="02040503050406030204" pitchFamily="18" charset="0"/>
                            </a:rPr>
                          </m:ctrlPr>
                        </m:dPr>
                        <m:e>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1,1</m:t>
                                        </m:r>
                                      </m:sub>
                                    </m:sSub>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2,1</m:t>
                                        </m:r>
                                      </m:sub>
                                    </m:sSub>
                                  </m:e>
                                </m:m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1,2</m:t>
                                        </m:r>
                                      </m:sub>
                                    </m:sSub>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1</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
                              <m:r>
                                <a:rPr lang="es-ES" sz="1400" i="0">
                                  <a:solidFill>
                                    <a:schemeClr val="accent4"/>
                                  </a:solidFill>
                                  <a:latin typeface="Cambria Math" panose="02040503050406030204" pitchFamily="18" charset="0"/>
                                </a:rPr>
                                <m:t>    </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1">
                                            <a:solidFill>
                                              <a:schemeClr val="accent4"/>
                                            </a:solidFill>
                                            <a:latin typeface="Cambria Math" panose="02040503050406030204" pitchFamily="18" charset="0"/>
                                          </a:rPr>
                                          <m:t>𝑘</m:t>
                                        </m:r>
                                        <m:r>
                                          <a:rPr lang="es-ES" sz="1400" i="0">
                                            <a:solidFill>
                                              <a:schemeClr val="accent4"/>
                                            </a:solidFill>
                                            <a:latin typeface="Cambria Math" panose="02040503050406030204" pitchFamily="18" charset="0"/>
                                          </a:rPr>
                                          <m:t>,1</m:t>
                                        </m:r>
                                      </m:sub>
                                    </m:sSub>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1">
                                            <a:solidFill>
                                              <a:schemeClr val="accent4"/>
                                            </a:solidFill>
                                            <a:latin typeface="Cambria Math" panose="02040503050406030204" pitchFamily="18" charset="0"/>
                                          </a:rPr>
                                          <m:t>𝑘</m:t>
                                        </m:r>
                                        <m:r>
                                          <a:rPr lang="es-ES" sz="1400" i="0">
                                            <a:solidFill>
                                              <a:schemeClr val="accent4"/>
                                            </a:solidFill>
                                            <a:latin typeface="Cambria Math" panose="02040503050406030204" pitchFamily="18" charset="0"/>
                                          </a:rPr>
                                          <m:t>,2</m:t>
                                        </m:r>
                                      </m:sub>
                                    </m:sSub>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
                            </m:e>
                            <m:e>
                              <m:r>
                                <a:rPr lang="es-ES" sz="1400" i="0">
                                  <a:solidFill>
                                    <a:schemeClr val="accent4"/>
                                  </a:solidFill>
                                  <a:latin typeface="Cambria Math" panose="02040503050406030204" pitchFamily="18" charset="0"/>
                                </a:rPr>
                                <m:t>&amp; </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m:t>
                                        </m:r>
                                        <m:r>
                                          <a:rPr lang="es-ES" sz="1400" i="1">
                                            <a:solidFill>
                                              <a:schemeClr val="accent4"/>
                                            </a:solidFill>
                                            <a:latin typeface="Cambria Math" panose="02040503050406030204" pitchFamily="18" charset="0"/>
                                          </a:rPr>
                                          <m:t>𝑛</m:t>
                                        </m:r>
                                        <m:r>
                                          <a:rPr lang="es-ES" sz="1400" i="0">
                                            <a:solidFill>
                                              <a:schemeClr val="accent4"/>
                                            </a:solidFill>
                                            <a:latin typeface="Cambria Math" panose="02040503050406030204" pitchFamily="18" charset="0"/>
                                          </a:rPr>
                                          <m:t>−2</m:t>
                                        </m:r>
                                      </m:sub>
                                    </m:sSub>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m:t>
                                        </m:r>
                                        <m:r>
                                          <a:rPr lang="es-ES" sz="1400" i="1">
                                            <a:solidFill>
                                              <a:schemeClr val="accent4"/>
                                            </a:solidFill>
                                            <a:latin typeface="Cambria Math" panose="02040503050406030204" pitchFamily="18" charset="0"/>
                                          </a:rPr>
                                          <m:t>𝑛</m:t>
                                        </m:r>
                                        <m:r>
                                          <a:rPr lang="es-ES" sz="1400" i="0">
                                            <a:solidFill>
                                              <a:schemeClr val="accent4"/>
                                            </a:solidFill>
                                            <a:latin typeface="Cambria Math" panose="02040503050406030204" pitchFamily="18" charset="0"/>
                                          </a:rPr>
                                          <m:t>−1</m:t>
                                        </m:r>
                                      </m:sub>
                                    </m:sSub>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1</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0">
                                            <a:solidFill>
                                              <a:schemeClr val="accent4"/>
                                            </a:solidFill>
                                            <a:latin typeface="Cambria Math" panose="02040503050406030204" pitchFamily="18" charset="0"/>
                                          </a:rPr>
                                          <m:t>1,</m:t>
                                        </m:r>
                                        <m:r>
                                          <a:rPr lang="es-ES" sz="1400" i="1">
                                            <a:solidFill>
                                              <a:schemeClr val="accent4"/>
                                            </a:solidFill>
                                            <a:latin typeface="Cambria Math" panose="02040503050406030204" pitchFamily="18" charset="0"/>
                                          </a:rPr>
                                          <m:t>𝑛</m:t>
                                        </m:r>
                                      </m:sub>
                                    </m:sSub>
                                  </m:e>
                                  <m:e>
                                    <m:r>
                                      <a:rPr lang="es-ES" sz="1400" i="0">
                                        <a:solidFill>
                                          <a:schemeClr val="accent4"/>
                                        </a:solidFill>
                                        <a:latin typeface="Cambria Math" panose="02040503050406030204" pitchFamily="18" charset="0"/>
                                      </a:rPr>
                                      <m:t>…</m:t>
                                    </m:r>
                                  </m:e>
                                </m:mr>
                              </m:m>
                              <m:r>
                                <a:rPr lang="es-ES" sz="1400" i="0">
                                  <a:solidFill>
                                    <a:schemeClr val="accent4"/>
                                  </a:solidFill>
                                  <a:latin typeface="Cambria Math" panose="02040503050406030204" pitchFamily="18" charset="0"/>
                                </a:rPr>
                                <m:t>    </m:t>
                              </m:r>
                              <m:m>
                                <m:mPr>
                                  <m:mcs>
                                    <m:mc>
                                      <m:mcPr>
                                        <m:count m:val="3"/>
                                        <m:mcJc m:val="center"/>
                                      </m:mcPr>
                                    </m:mc>
                                  </m:mcs>
                                  <m:ctrlPr>
                                    <a:rPr lang="es-ES" sz="1400" i="1">
                                      <a:solidFill>
                                        <a:schemeClr val="accent4"/>
                                      </a:solidFill>
                                      <a:latin typeface="Cambria Math" panose="02040503050406030204" pitchFamily="18" charset="0"/>
                                    </a:rPr>
                                  </m:ctrlPr>
                                </m:mP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mr>
                                <m:mr>
                                  <m:e>
                                    <m:r>
                                      <a:rPr lang="es-ES" sz="1400" i="0">
                                        <a:solidFill>
                                          <a:schemeClr val="accent4"/>
                                        </a:solidFill>
                                        <a:latin typeface="Cambria Math" panose="02040503050406030204" pitchFamily="18" charset="0"/>
                                      </a:rPr>
                                      <m:t>…</m:t>
                                    </m:r>
                                  </m:e>
                                  <m:e>
                                    <m:r>
                                      <a:rPr lang="es-ES" sz="1400" i="0">
                                        <a:solidFill>
                                          <a:schemeClr val="accent4"/>
                                        </a:solidFill>
                                        <a:latin typeface="Cambria Math" panose="02040503050406030204" pitchFamily="18" charset="0"/>
                                      </a:rPr>
                                      <m:t>…</m:t>
                                    </m:r>
                                  </m:e>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𝑥</m:t>
                                        </m:r>
                                      </m:e>
                                      <m:sub>
                                        <m:r>
                                          <a:rPr lang="es-ES" sz="1400" i="1">
                                            <a:solidFill>
                                              <a:schemeClr val="accent4"/>
                                            </a:solidFill>
                                            <a:latin typeface="Cambria Math" panose="02040503050406030204" pitchFamily="18" charset="0"/>
                                          </a:rPr>
                                          <m:t>𝑘</m:t>
                                        </m:r>
                                        <m:r>
                                          <a:rPr lang="es-ES" sz="1400" i="0">
                                            <a:solidFill>
                                              <a:schemeClr val="accent4"/>
                                            </a:solidFill>
                                            <a:latin typeface="Cambria Math" panose="02040503050406030204" pitchFamily="18" charset="0"/>
                                          </a:rPr>
                                          <m:t>,</m:t>
                                        </m:r>
                                        <m:r>
                                          <a:rPr lang="es-ES" sz="1400" i="1">
                                            <a:solidFill>
                                              <a:schemeClr val="accent4"/>
                                            </a:solidFill>
                                            <a:latin typeface="Cambria Math" panose="02040503050406030204" pitchFamily="18" charset="0"/>
                                          </a:rPr>
                                          <m:t>𝑛</m:t>
                                        </m:r>
                                      </m:sub>
                                    </m:sSub>
                                  </m:e>
                                </m:mr>
                              </m:m>
                            </m:e>
                          </m:eqArr>
                        </m:e>
                      </m:d>
                    </m:oMath>
                  </m:oMathPara>
                </a14:m>
                <a:endParaRPr lang="es-ES" sz="1400" dirty="0">
                  <a:solidFill>
                    <a:schemeClr val="accent4"/>
                  </a:solidFill>
                </a:endParaRPr>
              </a:p>
            </p:txBody>
          </p:sp>
        </mc:Choice>
        <mc:Fallback xmlns="">
          <p:sp>
            <p:nvSpPr>
              <p:cNvPr id="44" name="Rectángulo 43"/>
              <p:cNvSpPr>
                <a:spLocks noRot="1" noChangeAspect="1" noMove="1" noResize="1" noEditPoints="1" noAdjustHandles="1" noChangeArrowheads="1" noChangeShapeType="1" noTextEdit="1"/>
              </p:cNvSpPr>
              <p:nvPr/>
            </p:nvSpPr>
            <p:spPr>
              <a:xfrm>
                <a:off x="238623" y="2937315"/>
                <a:ext cx="2962799" cy="1403846"/>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6" name="Rectángulo 45"/>
              <p:cNvSpPr/>
              <p:nvPr/>
            </p:nvSpPr>
            <p:spPr>
              <a:xfrm>
                <a:off x="4056574" y="2738405"/>
                <a:ext cx="1031051" cy="17985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chemeClr val="accent4"/>
                          </a:solidFill>
                          <a:latin typeface="Cambria Math" panose="02040503050406030204" pitchFamily="18" charset="0"/>
                        </a:rPr>
                        <m:t>𝑌</m:t>
                      </m:r>
                      <m:r>
                        <a:rPr lang="es-ES" sz="1400" i="0">
                          <a:solidFill>
                            <a:schemeClr val="accent4"/>
                          </a:solidFill>
                          <a:latin typeface="Cambria Math" panose="02040503050406030204" pitchFamily="18" charset="0"/>
                        </a:rPr>
                        <m:t>= </m:t>
                      </m:r>
                      <m:d>
                        <m:dPr>
                          <m:begChr m:val="["/>
                          <m:endChr m:val="]"/>
                          <m:ctrlPr>
                            <a:rPr lang="es-ES" sz="1400" i="1">
                              <a:solidFill>
                                <a:schemeClr val="accent4"/>
                              </a:solidFill>
                              <a:latin typeface="Cambria Math" panose="02040503050406030204" pitchFamily="18" charset="0"/>
                            </a:rPr>
                          </m:ctrlPr>
                        </m:dPr>
                        <m:e>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m>
                                        <m:mPr>
                                          <m:mcs>
                                            <m:mc>
                                              <m:mcPr>
                                                <m:count m:val="1"/>
                                                <m:mcJc m:val="center"/>
                                              </m:mcPr>
                                            </m:mc>
                                          </m:mcs>
                                          <m:ctrlPr>
                                            <a:rPr lang="es-ES" sz="1400" i="1">
                                              <a:solidFill>
                                                <a:schemeClr val="accent4"/>
                                              </a:solidFill>
                                              <a:latin typeface="Cambria Math" panose="02040503050406030204" pitchFamily="18" charset="0"/>
                                            </a:rPr>
                                          </m:ctrlPr>
                                        </m:mP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0</m:t>
                                                </m:r>
                                              </m:sub>
                                            </m:sSub>
                                          </m:e>
                                        </m:mr>
                                        <m:mr>
                                          <m:e>
                                            <m:r>
                                              <a:rPr lang="es-ES" sz="1400" i="0">
                                                <a:solidFill>
                                                  <a:schemeClr val="accent4"/>
                                                </a:solidFill>
                                                <a:latin typeface="Cambria Math" panose="02040503050406030204" pitchFamily="18" charset="0"/>
                                              </a:rPr>
                                              <m:t> </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1</m:t>
                                                </m:r>
                                              </m:sub>
                                            </m:sSub>
                                          </m:e>
                                        </m:m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2</m:t>
                                                </m:r>
                                              </m:sub>
                                            </m:sSub>
                                          </m:e>
                                        </m:mr>
                                      </m:m>
                                      <m:r>
                                        <a:rPr lang="es-ES" sz="1400" i="0">
                                          <a:solidFill>
                                            <a:schemeClr val="accent4"/>
                                          </a:solidFill>
                                          <a:latin typeface="Cambria Math" panose="02040503050406030204" pitchFamily="18" charset="0"/>
                                        </a:rPr>
                                        <m:t> </m:t>
                                      </m: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3</m:t>
                                          </m:r>
                                        </m:sub>
                                      </m:sSub>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0">
                                          <a:solidFill>
                                            <a:schemeClr val="accent4"/>
                                          </a:solidFill>
                                          <a:latin typeface="Cambria Math" panose="02040503050406030204" pitchFamily="18" charset="0"/>
                                        </a:rPr>
                                        <m:t>4</m:t>
                                      </m:r>
                                    </m:sub>
                                  </m:sSub>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𝑦</m:t>
                                  </m:r>
                                </m:e>
                                <m:sub>
                                  <m:r>
                                    <a:rPr lang="es-ES" sz="1400" i="1">
                                      <a:solidFill>
                                        <a:schemeClr val="accent4"/>
                                      </a:solidFill>
                                      <a:latin typeface="Cambria Math" panose="02040503050406030204" pitchFamily="18" charset="0"/>
                                    </a:rPr>
                                    <m:t>𝑛</m:t>
                                  </m:r>
                                </m:sub>
                              </m:sSub>
                            </m:e>
                          </m:eqArr>
                        </m:e>
                      </m:d>
                      <m:r>
                        <a:rPr lang="es-ES" sz="1400" i="0">
                          <a:solidFill>
                            <a:schemeClr val="accent4"/>
                          </a:solidFill>
                          <a:latin typeface="Cambria Math" panose="02040503050406030204" pitchFamily="18" charset="0"/>
                        </a:rPr>
                        <m:t> </m:t>
                      </m:r>
                    </m:oMath>
                  </m:oMathPara>
                </a14:m>
                <a:endParaRPr lang="es-ES" sz="1400" dirty="0">
                  <a:solidFill>
                    <a:schemeClr val="accent4"/>
                  </a:solidFill>
                </a:endParaRPr>
              </a:p>
            </p:txBody>
          </p:sp>
        </mc:Choice>
        <mc:Fallback xmlns="">
          <p:sp>
            <p:nvSpPr>
              <p:cNvPr id="46" name="Rectángulo 45"/>
              <p:cNvSpPr>
                <a:spLocks noRot="1" noChangeAspect="1" noMove="1" noResize="1" noEditPoints="1" noAdjustHandles="1" noChangeArrowheads="1" noChangeShapeType="1" noTextEdit="1"/>
              </p:cNvSpPr>
              <p:nvPr/>
            </p:nvSpPr>
            <p:spPr>
              <a:xfrm>
                <a:off x="4056574" y="2738405"/>
                <a:ext cx="1031051" cy="1798506"/>
              </a:xfrm>
              <a:prstGeom prst="rect">
                <a:avLst/>
              </a:prstGeom>
              <a:blipFill rotWithShape="0">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Rectángulo 46"/>
              <p:cNvSpPr/>
              <p:nvPr/>
            </p:nvSpPr>
            <p:spPr>
              <a:xfrm>
                <a:off x="7111833" y="2593480"/>
                <a:ext cx="1052339" cy="19752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chemeClr val="accent4"/>
                          </a:solidFill>
                          <a:latin typeface="Cambria Math" panose="02040503050406030204" pitchFamily="18" charset="0"/>
                        </a:rPr>
                        <m:t>𝐵</m:t>
                      </m:r>
                      <m:r>
                        <a:rPr lang="es-ES" sz="1400" i="0">
                          <a:solidFill>
                            <a:schemeClr val="accent4"/>
                          </a:solidFill>
                          <a:latin typeface="Cambria Math" panose="02040503050406030204" pitchFamily="18" charset="0"/>
                        </a:rPr>
                        <m:t>= </m:t>
                      </m:r>
                      <m:d>
                        <m:dPr>
                          <m:begChr m:val="["/>
                          <m:endChr m:val="]"/>
                          <m:ctrlPr>
                            <a:rPr lang="es-ES" sz="1400" i="1">
                              <a:solidFill>
                                <a:schemeClr val="accent4"/>
                              </a:solidFill>
                              <a:latin typeface="Cambria Math" panose="02040503050406030204" pitchFamily="18" charset="0"/>
                            </a:rPr>
                          </m:ctrlPr>
                        </m:dPr>
                        <m:e>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eqArr>
                                    <m:eqArrPr>
                                      <m:ctrlPr>
                                        <a:rPr lang="es-ES" sz="1400" i="1">
                                          <a:solidFill>
                                            <a:schemeClr val="accent4"/>
                                          </a:solidFill>
                                          <a:latin typeface="Cambria Math" panose="02040503050406030204" pitchFamily="18" charset="0"/>
                                        </a:rPr>
                                      </m:ctrlPr>
                                    </m:eqArrPr>
                                    <m:e>
                                      <m:r>
                                        <a:rPr lang="es-ES" sz="1400" i="0">
                                          <a:solidFill>
                                            <a:schemeClr val="accent4"/>
                                          </a:solidFill>
                                          <a:latin typeface="Cambria Math" panose="02040503050406030204" pitchFamily="18" charset="0"/>
                                        </a:rPr>
                                        <m:t>&amp;</m:t>
                                      </m:r>
                                      <m:m>
                                        <m:mPr>
                                          <m:mcs>
                                            <m:mc>
                                              <m:mcPr>
                                                <m:count m:val="1"/>
                                                <m:mcJc m:val="center"/>
                                              </m:mcPr>
                                            </m:mc>
                                          </m:mcs>
                                          <m:ctrlPr>
                                            <a:rPr lang="es-ES" sz="1400" i="1">
                                              <a:solidFill>
                                                <a:schemeClr val="accent4"/>
                                              </a:solidFill>
                                              <a:latin typeface="Cambria Math" panose="02040503050406030204" pitchFamily="18" charset="0"/>
                                            </a:rPr>
                                          </m:ctrlPr>
                                        </m:mP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0</m:t>
                                                </m:r>
                                              </m:sub>
                                            </m:sSub>
                                          </m:e>
                                        </m:mr>
                                        <m:mr>
                                          <m:e>
                                            <m:r>
                                              <a:rPr lang="es-ES" sz="1400" i="0">
                                                <a:solidFill>
                                                  <a:schemeClr val="accent4"/>
                                                </a:solidFill>
                                                <a:latin typeface="Cambria Math" panose="02040503050406030204" pitchFamily="18" charset="0"/>
                                              </a:rPr>
                                              <m:t> </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1</m:t>
                                                </m:r>
                                              </m:sub>
                                            </m:sSub>
                                          </m:e>
                                        </m:mr>
                                        <m:mr>
                                          <m:e>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n-US" sz="1400" b="0" i="0" smtClean="0">
                                                    <a:solidFill>
                                                      <a:schemeClr val="accent4"/>
                                                    </a:solidFill>
                                                    <a:latin typeface="Cambria Math" panose="02040503050406030204" pitchFamily="18" charset="0"/>
                                                  </a:rPr>
                                                  <m:t>2</m:t>
                                                </m:r>
                                              </m:sub>
                                            </m:sSub>
                                          </m:e>
                                        </m:mr>
                                      </m:m>
                                      <m:r>
                                        <a:rPr lang="es-ES" sz="1400" i="0">
                                          <a:solidFill>
                                            <a:schemeClr val="accent4"/>
                                          </a:solidFill>
                                          <a:latin typeface="Cambria Math" panose="02040503050406030204" pitchFamily="18" charset="0"/>
                                        </a:rPr>
                                        <m:t> </m:t>
                                      </m: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3</m:t>
                                          </m:r>
                                        </m:sub>
                                      </m:sSub>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0">
                                          <a:solidFill>
                                            <a:schemeClr val="accent4"/>
                                          </a:solidFill>
                                          <a:latin typeface="Cambria Math" panose="02040503050406030204" pitchFamily="18" charset="0"/>
                                        </a:rPr>
                                        <m:t>4</m:t>
                                      </m:r>
                                    </m:sub>
                                  </m:sSub>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
                                  <m:r>
                                    <a:rPr lang="es-ES" sz="1400" i="0">
                                      <a:solidFill>
                                        <a:schemeClr val="accent4"/>
                                      </a:solidFill>
                                      <a:latin typeface="Cambria Math" panose="02040503050406030204" pitchFamily="18" charset="0"/>
                                    </a:rPr>
                                    <m:t>&amp;.</m:t>
                                  </m:r>
                                </m:e>
                              </m:eqArr>
                            </m:e>
                            <m:e>
                              <m:r>
                                <a:rPr lang="es-ES" sz="1400" i="0">
                                  <a:solidFill>
                                    <a:schemeClr val="accent4"/>
                                  </a:solidFill>
                                  <a:latin typeface="Cambria Math" panose="02040503050406030204" pitchFamily="18" charset="0"/>
                                </a:rPr>
                                <m:t>&amp;</m:t>
                              </m:r>
                              <m:sSub>
                                <m:sSubPr>
                                  <m:ctrlPr>
                                    <a:rPr lang="es-ES" sz="1400" i="1">
                                      <a:solidFill>
                                        <a:schemeClr val="accent4"/>
                                      </a:solidFill>
                                      <a:latin typeface="Cambria Math" panose="02040503050406030204" pitchFamily="18" charset="0"/>
                                    </a:rPr>
                                  </m:ctrlPr>
                                </m:sSubPr>
                                <m:e>
                                  <m:r>
                                    <a:rPr lang="es-ES" sz="1400" i="1">
                                      <a:solidFill>
                                        <a:schemeClr val="accent4"/>
                                      </a:solidFill>
                                      <a:latin typeface="Cambria Math" panose="02040503050406030204" pitchFamily="18" charset="0"/>
                                    </a:rPr>
                                    <m:t>𝑏</m:t>
                                  </m:r>
                                </m:e>
                                <m:sub>
                                  <m:r>
                                    <a:rPr lang="es-ES" sz="1400" i="1">
                                      <a:solidFill>
                                        <a:schemeClr val="accent4"/>
                                      </a:solidFill>
                                      <a:latin typeface="Cambria Math" panose="02040503050406030204" pitchFamily="18" charset="0"/>
                                    </a:rPr>
                                    <m:t>𝑛</m:t>
                                  </m:r>
                                </m:sub>
                              </m:sSub>
                            </m:e>
                          </m:eqArr>
                        </m:e>
                      </m:d>
                      <m:r>
                        <a:rPr lang="es-ES" sz="1400" i="0">
                          <a:solidFill>
                            <a:schemeClr val="accent4"/>
                          </a:solidFill>
                          <a:latin typeface="Cambria Math" panose="02040503050406030204" pitchFamily="18" charset="0"/>
                        </a:rPr>
                        <m:t> </m:t>
                      </m:r>
                    </m:oMath>
                  </m:oMathPara>
                </a14:m>
                <a:endParaRPr lang="es-ES" sz="1400" dirty="0">
                  <a:solidFill>
                    <a:schemeClr val="accent4"/>
                  </a:solidFill>
                </a:endParaRPr>
              </a:p>
            </p:txBody>
          </p:sp>
        </mc:Choice>
        <mc:Fallback xmlns="">
          <p:sp>
            <p:nvSpPr>
              <p:cNvPr id="47" name="Rectángulo 46"/>
              <p:cNvSpPr>
                <a:spLocks noRot="1" noChangeAspect="1" noMove="1" noResize="1" noEditPoints="1" noAdjustHandles="1" noChangeArrowheads="1" noChangeShapeType="1" noTextEdit="1"/>
              </p:cNvSpPr>
              <p:nvPr/>
            </p:nvSpPr>
            <p:spPr>
              <a:xfrm>
                <a:off x="7111833" y="2593480"/>
                <a:ext cx="1052339" cy="1975284"/>
              </a:xfrm>
              <a:prstGeom prst="rect">
                <a:avLst/>
              </a:prstGeom>
              <a:blipFill rotWithShape="0">
                <a:blip r:embed="rId6"/>
                <a:stretch>
                  <a:fillRect/>
                </a:stretch>
              </a:blipFill>
            </p:spPr>
            <p:txBody>
              <a:bodyPr/>
              <a:lstStyle/>
              <a:p>
                <a:r>
                  <a:rPr lang="es-ES">
                    <a:noFill/>
                  </a:rPr>
                  <a:t> </a:t>
                </a:r>
              </a:p>
            </p:txBody>
          </p:sp>
        </mc:Fallback>
      </mc:AlternateContent>
      <p:sp>
        <p:nvSpPr>
          <p:cNvPr id="48" name="40 CuadroTexto"/>
          <p:cNvSpPr txBox="1"/>
          <p:nvPr/>
        </p:nvSpPr>
        <p:spPr>
          <a:xfrm>
            <a:off x="774001" y="4341875"/>
            <a:ext cx="2208737" cy="646331"/>
          </a:xfrm>
          <a:prstGeom prst="rect">
            <a:avLst/>
          </a:prstGeom>
          <a:noFill/>
        </p:spPr>
        <p:txBody>
          <a:bodyPr wrap="square" rtlCol="0">
            <a:spAutoFit/>
          </a:bodyPr>
          <a:lstStyle/>
          <a:p>
            <a:pPr algn="just"/>
            <a:r>
              <a:rPr lang="es-ES" sz="1200" dirty="0">
                <a:solidFill>
                  <a:schemeClr val="accent4"/>
                </a:solidFill>
                <a:latin typeface="Fira Sans Condensed Light" panose="020B0604020202020204" charset="0"/>
                <a:cs typeface="Times New Roman" panose="02020603050405020304" pitchFamily="18" charset="0"/>
              </a:rPr>
              <a:t>Es la matriz de las características independientes. (Variables </a:t>
            </a:r>
            <a:r>
              <a:rPr lang="es-ES" sz="1200" dirty="0" err="1">
                <a:solidFill>
                  <a:schemeClr val="accent4"/>
                </a:solidFill>
                <a:latin typeface="Fira Sans Condensed Light" panose="020B0604020202020204" charset="0"/>
                <a:cs typeface="Times New Roman" panose="02020603050405020304" pitchFamily="18" charset="0"/>
              </a:rPr>
              <a:t>predictoras</a:t>
            </a:r>
            <a:r>
              <a:rPr lang="es-ES" sz="1200" dirty="0">
                <a:solidFill>
                  <a:schemeClr val="accent4"/>
                </a:solidFill>
                <a:latin typeface="Fira Sans Condensed Light" panose="020B0604020202020204" charset="0"/>
                <a:cs typeface="Times New Roman" panose="02020603050405020304" pitchFamily="18" charset="0"/>
              </a:rPr>
              <a:t>)</a:t>
            </a:r>
          </a:p>
        </p:txBody>
      </p:sp>
      <p:sp>
        <p:nvSpPr>
          <p:cNvPr id="49" name="40 CuadroTexto"/>
          <p:cNvSpPr txBox="1"/>
          <p:nvPr/>
        </p:nvSpPr>
        <p:spPr>
          <a:xfrm>
            <a:off x="3410314" y="4497169"/>
            <a:ext cx="3023305" cy="646331"/>
          </a:xfrm>
          <a:prstGeom prst="rect">
            <a:avLst/>
          </a:prstGeom>
          <a:noFill/>
        </p:spPr>
        <p:txBody>
          <a:bodyPr wrap="square" rtlCol="0">
            <a:spAutoFit/>
          </a:bodyPr>
          <a:lstStyle/>
          <a:p>
            <a:pPr algn="just"/>
            <a:r>
              <a:rPr lang="es-ES" sz="1200" dirty="0">
                <a:solidFill>
                  <a:schemeClr val="accent4"/>
                </a:solidFill>
                <a:latin typeface="Fira Sans Condensed Light" panose="020B0604020202020204" charset="0"/>
                <a:cs typeface="Times New Roman" panose="02020603050405020304" pitchFamily="18" charset="0"/>
              </a:rPr>
              <a:t>Es el vector de la variable dependiente, calculado a partir de la matriz  X. (Variable de respuesta)</a:t>
            </a:r>
          </a:p>
        </p:txBody>
      </p:sp>
      <p:sp>
        <p:nvSpPr>
          <p:cNvPr id="50" name="40 CuadroTexto"/>
          <p:cNvSpPr txBox="1"/>
          <p:nvPr/>
        </p:nvSpPr>
        <p:spPr>
          <a:xfrm>
            <a:off x="6461184" y="4497168"/>
            <a:ext cx="2684159" cy="646331"/>
          </a:xfrm>
          <a:prstGeom prst="rect">
            <a:avLst/>
          </a:prstGeom>
          <a:noFill/>
        </p:spPr>
        <p:txBody>
          <a:bodyPr wrap="square" rtlCol="0">
            <a:spAutoFit/>
          </a:bodyPr>
          <a:lstStyle/>
          <a:p>
            <a:pPr algn="just"/>
            <a:r>
              <a:rPr lang="es-ES" sz="1200" dirty="0">
                <a:solidFill>
                  <a:schemeClr val="accent4"/>
                </a:solidFill>
                <a:latin typeface="Segoe UI Semilight" panose="020B0402040204020203" pitchFamily="34" charset="0"/>
                <a:cs typeface="Segoe UI Semilight" panose="020B0402040204020203" pitchFamily="34" charset="0"/>
              </a:rPr>
              <a:t>Es el vector de los coeficientes calculados en la regresión lineal para el modelo.</a:t>
            </a:r>
          </a:p>
        </p:txBody>
      </p:sp>
      <p:pic>
        <p:nvPicPr>
          <p:cNvPr id="41" name="Picture 4" descr="The Learning Gate | Tec de Monterrey"/>
          <p:cNvPicPr>
            <a:picLocks noChangeAspect="1" noChangeArrowheads="1"/>
          </p:cNvPicPr>
          <p:nvPr/>
        </p:nvPicPr>
        <p:blipFill>
          <a:blip r:embed="rId7">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1283164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768707"/>
            <a:ext cx="8237940" cy="572700"/>
          </a:xfrm>
          <a:prstGeom prst="rect">
            <a:avLst/>
          </a:prstGeom>
          <a:noFill/>
          <a:ln>
            <a:noFill/>
          </a:ln>
        </p:spPr>
        <p:txBody>
          <a:bodyPr spcFirstLastPara="1" wrap="square" lIns="91425" tIns="91425" rIns="91425" bIns="91425" anchor="t" anchorCtr="0">
            <a:noAutofit/>
          </a:bodyPr>
          <a:lstStyle/>
          <a:p>
            <a:pPr>
              <a:buClr>
                <a:srgbClr val="F3F3F3"/>
              </a:buClr>
              <a:buSzPts val="3000"/>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a:t>
            </a:r>
            <a:r>
              <a:rPr lang="en-US" sz="3000" b="1" dirty="0">
                <a:solidFill>
                  <a:schemeClr val="tx2"/>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Despliegue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lang="en-US" sz="3000" b="1" dirty="0" err="1">
                <a:solidFill>
                  <a:srgbClr val="F3F3F3"/>
                </a:solidFill>
                <a:latin typeface="Rajdhani"/>
                <a:ea typeface="Rajdhani"/>
                <a:cs typeface="Rajdhani"/>
                <a:sym typeface="Rajdhani"/>
              </a:rPr>
              <a:t>Regresión</a:t>
            </a:r>
            <a:r>
              <a:rPr lang="en-US" sz="3000" b="1" dirty="0">
                <a:solidFill>
                  <a:srgbClr val="F3F3F3"/>
                </a:solidFill>
                <a:latin typeface="Rajdhani"/>
                <a:ea typeface="Rajdhani"/>
                <a:cs typeface="Rajdhani"/>
                <a:sym typeface="Rajdhani"/>
              </a:rPr>
              <a:t> Lineal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11709" y="1183858"/>
            <a:ext cx="8662473" cy="3602083"/>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2 (</a:t>
            </a:r>
            <a:r>
              <a:rPr lang="en-US" sz="1600" b="1" dirty="0" err="1">
                <a:solidFill>
                  <a:schemeClr val="tx2"/>
                </a:solidFill>
                <a:latin typeface="Fira Sans Condensed Light" panose="020B0604020202020204" charset="0"/>
                <a:cs typeface="Times New Roman" panose="02020603050405020304" pitchFamily="18" charset="0"/>
              </a:rPr>
              <a:t>Despliegue</a:t>
            </a:r>
            <a:r>
              <a:rPr lang="en-US" sz="1600" b="1" dirty="0">
                <a:solidFill>
                  <a:schemeClr val="tx2"/>
                </a:solidFill>
                <a:latin typeface="Fira Sans Condensed Light" panose="020B0604020202020204" charset="0"/>
                <a:cs typeface="Times New Roman" panose="02020603050405020304" pitchFamily="18" charset="0"/>
              </a:rPr>
              <a:t> de </a:t>
            </a:r>
            <a:r>
              <a:rPr lang="en-US" sz="1600" b="1" dirty="0" err="1">
                <a:solidFill>
                  <a:schemeClr val="tx2"/>
                </a:solidFill>
                <a:latin typeface="Fira Sans Condensed Light" panose="020B0604020202020204" charset="0"/>
                <a:cs typeface="Times New Roman" panose="02020603050405020304" pitchFamily="18" charset="0"/>
              </a:rPr>
              <a:t>Regresión</a:t>
            </a:r>
            <a:r>
              <a:rPr lang="en-US" sz="1600" b="1" dirty="0">
                <a:solidFill>
                  <a:schemeClr val="tx2"/>
                </a:solidFill>
                <a:latin typeface="Fira Sans Condensed Light" panose="020B0604020202020204" charset="0"/>
                <a:cs typeface="Times New Roman" panose="02020603050405020304" pitchFamily="18" charset="0"/>
              </a:rPr>
              <a:t> Lineal)</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requeridos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este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análisis:</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Bitacora</a:t>
            </a:r>
            <a:r>
              <a:rPr lang="es-ES" sz="1600" b="1" dirty="0">
                <a:solidFill>
                  <a:schemeClr val="tx2"/>
                </a:solidFill>
                <a:latin typeface="Fira Sans Condensed Light" panose="020B0604020202020204" charset="0"/>
                <a:cs typeface="Times New Roman" panose="02020603050405020304" pitchFamily="18" charset="0"/>
              </a:rPr>
              <a:t> de Piso.csv”, “Leads Reales.csv”, etc. (Proporcionados por el socio formador GAC)</a:t>
            </a:r>
            <a:endParaRPr lang="de-DE"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3.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Realiza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acciones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preprocesamiento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necesarias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Nulos</a:t>
            </a:r>
            <a:r>
              <a:rPr lang="en-US" sz="1600" b="1" dirty="0">
                <a:solidFill>
                  <a:schemeClr val="tx2"/>
                </a:solidFill>
                <a:latin typeface="Fira Sans Condensed Light" panose="020B0604020202020204" charset="0"/>
                <a:cs typeface="Times New Roman" panose="02020603050405020304" pitchFamily="18" charset="0"/>
              </a:rPr>
              <a:t>, Outliers y </a:t>
            </a:r>
            <a:r>
              <a:rPr lang="en-US" sz="1600" b="1" dirty="0" err="1">
                <a:solidFill>
                  <a:schemeClr val="tx2"/>
                </a:solidFill>
                <a:latin typeface="Fira Sans Condensed Light" panose="020B0604020202020204" charset="0"/>
                <a:cs typeface="Times New Roman" panose="02020603050405020304" pitchFamily="18" charset="0"/>
              </a:rPr>
              <a:t>transformaciones</a:t>
            </a: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Realizar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implementación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un </a:t>
            </a:r>
            <a:r>
              <a:rPr lang="en-US" sz="1600" b="1" dirty="0">
                <a:solidFill>
                  <a:schemeClr val="tx2"/>
                </a:solidFill>
                <a:latin typeface="Fira Sans Condensed Light" panose="020B0604020202020204" charset="0"/>
                <a:cs typeface="Times New Roman" panose="02020603050405020304" pitchFamily="18" charset="0"/>
              </a:rPr>
              <a:t>Dashboard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que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muestre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hallazgos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análisis de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siguiente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etapa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Etapa II. </a:t>
            </a:r>
            <a:r>
              <a:rPr lang="es-ES" sz="1600" b="1" dirty="0">
                <a:solidFill>
                  <a:schemeClr val="bg1">
                    <a:lumMod val="60000"/>
                    <a:lumOff val="40000"/>
                  </a:schemeClr>
                </a:solidFill>
                <a:latin typeface="Calibri" panose="020F0502020204030204" pitchFamily="34" charset="0"/>
                <a:ea typeface="Calibri" panose="020F0502020204030204" pitchFamily="34" charset="0"/>
                <a:cs typeface="Times New Roman" panose="02020603050405020304" pitchFamily="18" charset="0"/>
              </a:rPr>
              <a:t>Modelado predictivo</a:t>
            </a:r>
            <a:r>
              <a:rPr lang="en-US" sz="1600" dirty="0">
                <a:solidFill>
                  <a:schemeClr val="bg1">
                    <a:lumMod val="60000"/>
                    <a:lumOff val="40000"/>
                  </a:schemeClr>
                </a:solidFill>
                <a:latin typeface="Fira Sans Condensed Light" panose="020B0604020202020204" charset="0"/>
                <a:ea typeface="Calibri" panose="020F0502020204030204" pitchFamily="34" charset="0"/>
                <a:cs typeface="Times New Roman" panose="02020603050405020304" pitchFamily="18" charset="0"/>
              </a:rPr>
              <a:t> </a:t>
            </a:r>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a) Análisis de </a:t>
            </a:r>
            <a:r>
              <a:rPr lang="en-US" sz="1600" b="1" dirty="0" err="1">
                <a:solidFill>
                  <a:schemeClr val="tx2"/>
                </a:solidFill>
                <a:latin typeface="Fira Sans Condensed Light" panose="020B0604020202020204" charset="0"/>
                <a:cs typeface="Times New Roman" panose="02020603050405020304" pitchFamily="18" charset="0"/>
              </a:rPr>
              <a:t>correlaciones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Análisis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aplicando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distintos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tipos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regresion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vistos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curso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rgbClr val="FFFF00"/>
                </a:solidFill>
                <a:latin typeface="Fira Sans Condensed Light" panose="020B0604020202020204" charset="0"/>
                <a:cs typeface="Times New Roman" panose="02020603050405020304" pitchFamily="18" charset="0"/>
              </a:rPr>
              <a:t>superponiendo</a:t>
            </a:r>
            <a:r>
              <a:rPr lang="en-US" sz="1600" dirty="0">
                <a:solidFill>
                  <a:srgbClr val="FFFF00"/>
                </a:solidFill>
                <a:latin typeface="Fira Sans Condensed Light" panose="020B0604020202020204" charset="0"/>
                <a:cs typeface="Times New Roman" panose="02020603050405020304" pitchFamily="18" charset="0"/>
              </a:rPr>
              <a:t> </a:t>
            </a:r>
            <a:r>
              <a:rPr lang="en-US" sz="1600" dirty="0" err="1">
                <a:solidFill>
                  <a:srgbClr val="FFFF00"/>
                </a:solidFill>
                <a:latin typeface="Fira Sans Condensed Light" panose="020B0604020202020204" charset="0"/>
                <a:cs typeface="Times New Roman" panose="02020603050405020304" pitchFamily="18" charset="0"/>
              </a:rPr>
              <a:t>cada</a:t>
            </a:r>
            <a:r>
              <a:rPr lang="en-US" sz="1600" dirty="0">
                <a:solidFill>
                  <a:srgbClr val="FFFF00"/>
                </a:solidFill>
                <a:latin typeface="Fira Sans Condensed Light" panose="020B0604020202020204" charset="0"/>
                <a:cs typeface="Times New Roman" panose="02020603050405020304" pitchFamily="18" charset="0"/>
              </a:rPr>
              <a:t> </a:t>
            </a:r>
            <a:r>
              <a:rPr lang="en-US" sz="1600" dirty="0" err="1">
                <a:solidFill>
                  <a:srgbClr val="FFFF00"/>
                </a:solidFill>
                <a:latin typeface="Fira Sans Condensed Light" panose="020B0604020202020204" charset="0"/>
                <a:cs typeface="Times New Roman" panose="02020603050405020304" pitchFamily="18" charset="0"/>
              </a:rPr>
              <a:t>gráfico</a:t>
            </a:r>
            <a:r>
              <a:rPr lang="en-US" sz="1600" dirty="0">
                <a:solidFill>
                  <a:srgbClr val="FFFF00"/>
                </a:solidFill>
                <a:latin typeface="Fira Sans Condensed Light" panose="020B0604020202020204" charset="0"/>
                <a:cs typeface="Times New Roman" panose="02020603050405020304" pitchFamily="18" charset="0"/>
              </a:rPr>
              <a:t> la dispersion de </a:t>
            </a:r>
            <a:r>
              <a:rPr lang="en-US" sz="1600" dirty="0" err="1">
                <a:solidFill>
                  <a:srgbClr val="FFFF00"/>
                </a:solidFill>
                <a:latin typeface="Fira Sans Condensed Light" panose="020B0604020202020204" charset="0"/>
                <a:cs typeface="Times New Roman" panose="02020603050405020304" pitchFamily="18" charset="0"/>
              </a:rPr>
              <a:t>los</a:t>
            </a:r>
            <a:r>
              <a:rPr lang="en-US" sz="1600" dirty="0">
                <a:solidFill>
                  <a:srgbClr val="FFFF00"/>
                </a:solidFill>
                <a:latin typeface="Fira Sans Condensed Light" panose="020B0604020202020204" charset="0"/>
                <a:cs typeface="Times New Roman" panose="02020603050405020304" pitchFamily="18" charset="0"/>
              </a:rPr>
              <a:t> datos </a:t>
            </a:r>
            <a:r>
              <a:rPr lang="en-US" sz="1600" dirty="0" err="1">
                <a:solidFill>
                  <a:srgbClr val="FFFF00"/>
                </a:solidFill>
                <a:latin typeface="Fira Sans Condensed Light" panose="020B0604020202020204" charset="0"/>
                <a:cs typeface="Times New Roman" panose="02020603050405020304" pitchFamily="18" charset="0"/>
              </a:rPr>
              <a:t>predecidos</a:t>
            </a:r>
            <a:r>
              <a:rPr lang="en-US" sz="1600" dirty="0">
                <a:solidFill>
                  <a:srgbClr val="FFFF00"/>
                </a:solidFill>
                <a:latin typeface="Fira Sans Condensed Light" panose="020B0604020202020204" charset="0"/>
                <a:cs typeface="Times New Roman" panose="02020603050405020304" pitchFamily="18" charset="0"/>
              </a:rPr>
              <a:t>*</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regresión</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lineal simple</a:t>
            </a:r>
            <a:r>
              <a:rPr lang="en-US" sz="1600" dirty="0">
                <a:solidFill>
                  <a:srgbClr val="FFFF00"/>
                </a:solidFill>
                <a:latin typeface="Fira Sans Condensed Light" panose="020B0604020202020204" charset="0"/>
                <a:cs typeface="Times New Roman" panose="02020603050405020304" pitchFamily="18" charset="0"/>
              </a:rPr>
              <a:t>*</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,y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regresión</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lineal multiple</a:t>
            </a:r>
            <a:r>
              <a:rPr lang="en-US" sz="1600" dirty="0">
                <a:solidFill>
                  <a:srgbClr val="FFFF00"/>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3423DCB4-9B0C-F4DD-F2C0-63FD771CA1E8}"/>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B53443E8-1C27-D578-773E-2162FEAF9134}"/>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BF99C162-26D7-CA29-9585-176B0689C983}"/>
              </a:ext>
            </a:extLst>
          </p:cNvPr>
          <p:cNvSpPr txBox="1">
            <a:spLocks/>
          </p:cNvSpPr>
          <p:nvPr/>
        </p:nvSpPr>
        <p:spPr>
          <a:xfrm>
            <a:off x="378522" y="768707"/>
            <a:ext cx="8261386" cy="572700"/>
          </a:xfrm>
          <a:prstGeom prst="rect">
            <a:avLst/>
          </a:prstGeom>
          <a:noFill/>
          <a:ln>
            <a:noFill/>
          </a:ln>
        </p:spPr>
        <p:txBody>
          <a:bodyPr spcFirstLastPara="1" wrap="square" lIns="91425" tIns="91425" rIns="91425" bIns="91425" anchor="t" anchorCtr="0">
            <a:noAutofit/>
          </a:bodyPr>
          <a:lstStyle/>
          <a:p>
            <a:pPr>
              <a:buClr>
                <a:srgbClr val="F3F3F3"/>
              </a:buClr>
              <a:buSzPts val="3000"/>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a:t>
            </a:r>
            <a:r>
              <a:rPr lang="en-US" sz="3000" b="1" dirty="0">
                <a:solidFill>
                  <a:schemeClr val="tx2"/>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Despliegue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lang="en-US" sz="3000" b="1" dirty="0" err="1">
                <a:solidFill>
                  <a:srgbClr val="F3F3F3"/>
                </a:solidFill>
                <a:latin typeface="Rajdhani"/>
                <a:ea typeface="Rajdhani"/>
                <a:cs typeface="Rajdhani"/>
                <a:sym typeface="Rajdhani"/>
              </a:rPr>
              <a:t>Regresión</a:t>
            </a:r>
            <a:r>
              <a:rPr lang="en-US" sz="3000" b="1" dirty="0">
                <a:solidFill>
                  <a:srgbClr val="F3F3F3"/>
                </a:solidFill>
                <a:latin typeface="Rajdhani"/>
                <a:ea typeface="Rajdhani"/>
                <a:cs typeface="Rajdhani"/>
                <a:sym typeface="Rajdhani"/>
              </a:rPr>
              <a:t> Lineal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2588A70C-FAEE-EA5E-DDF8-6A503726DD40}"/>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AD73F887-2196-4305-C037-FD90A6E23B31}"/>
              </a:ext>
            </a:extLst>
          </p:cNvPr>
          <p:cNvSpPr txBox="1"/>
          <p:nvPr/>
        </p:nvSpPr>
        <p:spPr>
          <a:xfrm>
            <a:off x="311709" y="1183858"/>
            <a:ext cx="8662473" cy="3602083"/>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5.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En la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se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considerará</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como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bonus extra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modificación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diseño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implementación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widgets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adicionales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que se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presenten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Plantilla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descrita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clase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ejemplo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HEATMAP, BOXPLOT, TABLAS, SELECTORES, ICONOS, COLOR, ETC</a:t>
            </a:r>
          </a:p>
          <a:p>
            <a:pPr algn="just"/>
            <a:endParaRPr lang="es-ES" sz="1600" b="1" dirty="0">
              <a:solidFill>
                <a:srgbClr val="FFFF00"/>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requeridos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7.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s-ES" sz="1600" b="1" dirty="0">
              <a:solidFill>
                <a:srgbClr val="FFFF00"/>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00631014-0FFD-AF30-CB4F-5C1EC5089615}"/>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025158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9235</TotalTime>
  <Words>2229</Words>
  <Application>Microsoft Office PowerPoint</Application>
  <PresentationFormat>Presentación en pantalla (16:9)</PresentationFormat>
  <Paragraphs>304</Paragraphs>
  <Slides>34</Slides>
  <Notes>34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34</vt:i4>
      </vt:variant>
    </vt:vector>
  </HeadingPairs>
  <TitlesOfParts>
    <vt:vector size="43" baseType="lpstr">
      <vt:lpstr>Fira Sans Condensed Light</vt:lpstr>
      <vt:lpstr>Arial</vt:lpstr>
      <vt:lpstr>Cambria Math</vt:lpstr>
      <vt:lpstr>Calibri</vt:lpstr>
      <vt:lpstr>Rajdhani</vt:lpstr>
      <vt:lpstr>Advent Pro Light</vt:lpstr>
      <vt:lpstr>Segoe UI Semilight</vt:lpstr>
      <vt:lpstr>Anton</vt:lpstr>
      <vt:lpstr>Ai Tech Agency by Slidesgo</vt:lpstr>
      <vt:lpstr>Presentación de PowerPoint</vt:lpstr>
      <vt:lpstr>Bienvenida</vt:lpstr>
      <vt:lpstr>Presentación de PowerPoint</vt:lpstr>
      <vt:lpstr>Presentación de PowerPoint</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METODOLOGÍA CRISP DM</vt:lpstr>
      <vt:lpstr>ANALÍTICA DE DATOS</vt:lpstr>
      <vt:lpstr>Regresión Lineal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Coeficiente de Correlación de Pearson</vt:lpstr>
      <vt:lpstr>Escala de Correlación</vt:lpstr>
      <vt:lpstr>Presentación de PowerPoint</vt:lpstr>
      <vt:lpstr>Presentación de PowerPoint</vt:lpstr>
      <vt:lpstr>Regresión lineal</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251</cp:revision>
  <dcterms:modified xsi:type="dcterms:W3CDTF">2026-09-29T17:06:47Z</dcterms:modified>
</cp:coreProperties>
</file>